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68" r:id="rId5"/>
    <p:sldId id="274" r:id="rId6"/>
    <p:sldId id="259" r:id="rId7"/>
    <p:sldId id="260" r:id="rId8"/>
    <p:sldId id="266" r:id="rId9"/>
    <p:sldId id="261" r:id="rId10"/>
    <p:sldId id="263" r:id="rId11"/>
    <p:sldId id="264" r:id="rId12"/>
    <p:sldId id="265" r:id="rId13"/>
    <p:sldId id="272" r:id="rId14"/>
    <p:sldId id="273" r:id="rId15"/>
    <p:sldId id="267" r:id="rId16"/>
  </p:sldIdLst>
  <p:sldSz cx="18288000" cy="10287000"/>
  <p:notesSz cx="6858000" cy="9144000"/>
  <p:embeddedFontLst>
    <p:embeddedFont>
      <p:font typeface="Arimo" panose="020B0604020202020204" charset="0"/>
      <p:regular r:id="rId18"/>
    </p:embeddedFont>
    <p:embeddedFont>
      <p:font typeface="Calibri" panose="020F0502020204030204" pitchFamily="34" charset="0"/>
      <p:regular r:id="rId19"/>
      <p:bold r:id="rId20"/>
      <p:italic r:id="rId21"/>
      <p:boldItalic r:id="rId22"/>
    </p:embeddedFont>
    <p:embeddedFont>
      <p:font typeface="Times New Roman Bold" panose="02020803070505020304" pitchFamily="18"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ani Harshith" initials="PH" lastIdx="1" clrIdx="0">
    <p:extLst>
      <p:ext uri="{19B8F6BF-5375-455C-9EA6-DF929625EA0E}">
        <p15:presenceInfo xmlns:p15="http://schemas.microsoft.com/office/powerpoint/2012/main" userId="94ac41ca39b558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365" autoAdjust="0"/>
  </p:normalViewPr>
  <p:slideViewPr>
    <p:cSldViewPr>
      <p:cViewPr varScale="1">
        <p:scale>
          <a:sx n="57" d="100"/>
          <a:sy n="57" d="100"/>
        </p:scale>
        <p:origin x="56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BF7848-8880-4CCF-9220-7812E163D2FE}" type="datetimeFigureOut">
              <a:rPr lang="en-US" smtClean="0"/>
              <a:t>1/19/2026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F7EE03-2996-4132-9D89-6FC234DB6C89}" type="slidenum">
              <a:rPr lang="en-US" smtClean="0"/>
              <a:t>‹#›</a:t>
            </a:fld>
            <a:endParaRPr lang="en-US"/>
          </a:p>
        </p:txBody>
      </p:sp>
    </p:spTree>
    <p:extLst>
      <p:ext uri="{BB962C8B-B14F-4D97-AF65-F5344CB8AC3E}">
        <p14:creationId xmlns:p14="http://schemas.microsoft.com/office/powerpoint/2010/main" val="296163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F7EE03-2996-4132-9D89-6FC234DB6C89}" type="slidenum">
              <a:rPr lang="en-US" smtClean="0"/>
              <a:t>12</a:t>
            </a:fld>
            <a:endParaRPr lang="en-US"/>
          </a:p>
        </p:txBody>
      </p:sp>
    </p:spTree>
    <p:extLst>
      <p:ext uri="{BB962C8B-B14F-4D97-AF65-F5344CB8AC3E}">
        <p14:creationId xmlns:p14="http://schemas.microsoft.com/office/powerpoint/2010/main" val="2239740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48678" y="-20169"/>
            <a:ext cx="11301259" cy="2217872"/>
            <a:chOff x="0" y="0"/>
            <a:chExt cx="15068345" cy="2957163"/>
          </a:xfrm>
        </p:grpSpPr>
        <p:sp>
          <p:nvSpPr>
            <p:cNvPr id="3" name="Freeform 3"/>
            <p:cNvSpPr/>
            <p:nvPr/>
          </p:nvSpPr>
          <p:spPr>
            <a:xfrm>
              <a:off x="0" y="0"/>
              <a:ext cx="15068296" cy="2957195"/>
            </a:xfrm>
            <a:custGeom>
              <a:avLst/>
              <a:gdLst/>
              <a:ahLst/>
              <a:cxnLst/>
              <a:rect l="l" t="t" r="r" b="b"/>
              <a:pathLst>
                <a:path w="15068296" h="2957195">
                  <a:moveTo>
                    <a:pt x="0" y="0"/>
                  </a:moveTo>
                  <a:lnTo>
                    <a:pt x="15068296" y="0"/>
                  </a:lnTo>
                  <a:lnTo>
                    <a:pt x="15068296" y="2957195"/>
                  </a:lnTo>
                  <a:lnTo>
                    <a:pt x="0" y="2957195"/>
                  </a:lnTo>
                  <a:lnTo>
                    <a:pt x="0" y="0"/>
                  </a:lnTo>
                  <a:close/>
                </a:path>
              </a:pathLst>
            </a:custGeom>
            <a:blipFill>
              <a:blip r:embed="rId2"/>
              <a:stretch>
                <a:fillRect b="1"/>
              </a:stretch>
            </a:blipFill>
          </p:spPr>
        </p:sp>
      </p:grpSp>
      <p:sp>
        <p:nvSpPr>
          <p:cNvPr id="4" name="TextBox 4"/>
          <p:cNvSpPr txBox="1"/>
          <p:nvPr/>
        </p:nvSpPr>
        <p:spPr>
          <a:xfrm>
            <a:off x="381000" y="1841072"/>
            <a:ext cx="17526000" cy="865622"/>
          </a:xfrm>
          <a:prstGeom prst="rect">
            <a:avLst/>
          </a:prstGeom>
        </p:spPr>
        <p:txBody>
          <a:bodyPr lIns="0" tIns="0" rIns="0" bIns="0" rtlCol="0" anchor="t">
            <a:spAutoFit/>
          </a:bodyPr>
          <a:lstStyle/>
          <a:p>
            <a:pPr algn="ctr">
              <a:lnSpc>
                <a:spcPts val="8000"/>
              </a:lnSpc>
            </a:pPr>
            <a:r>
              <a:rPr lang="en-US" sz="3200" b="1" u="sng" dirty="0">
                <a:solidFill>
                  <a:srgbClr val="000000"/>
                </a:solidFill>
                <a:latin typeface="Times New Roman Bold"/>
                <a:ea typeface="Times New Roman Bold"/>
                <a:cs typeface="Times New Roman Bold"/>
                <a:sym typeface="Times New Roman Bold"/>
              </a:rPr>
              <a:t>Machine Learning-Based Organ Matching Prediction System</a:t>
            </a:r>
          </a:p>
        </p:txBody>
      </p:sp>
      <p:sp>
        <p:nvSpPr>
          <p:cNvPr id="5" name="TextBox 5"/>
          <p:cNvSpPr txBox="1"/>
          <p:nvPr/>
        </p:nvSpPr>
        <p:spPr>
          <a:xfrm>
            <a:off x="1208200" y="3067664"/>
            <a:ext cx="11820526" cy="615553"/>
          </a:xfrm>
          <a:prstGeom prst="rect">
            <a:avLst/>
          </a:prstGeom>
        </p:spPr>
        <p:txBody>
          <a:bodyPr lIns="0" tIns="0" rIns="0" bIns="0" rtlCol="0" anchor="t">
            <a:spAutoFit/>
          </a:bodyPr>
          <a:lstStyle/>
          <a:p>
            <a:pPr algn="l">
              <a:lnSpc>
                <a:spcPts val="2400"/>
              </a:lnSpc>
            </a:pPr>
            <a:r>
              <a:rPr lang="en-US" sz="2000" b="1" dirty="0">
                <a:solidFill>
                  <a:srgbClr val="000000"/>
                </a:solidFill>
                <a:latin typeface="Times New Roman Bold"/>
                <a:ea typeface="Times New Roman Bold"/>
                <a:cs typeface="Times New Roman Bold"/>
                <a:sym typeface="Times New Roman Bold"/>
              </a:rPr>
              <a:t>BATCH NUMBER: </a:t>
            </a:r>
            <a:r>
              <a:rPr lang="en-US" sz="3200" b="1" dirty="0">
                <a:solidFill>
                  <a:srgbClr val="000000"/>
                </a:solidFill>
                <a:latin typeface="Times New Roman Bold"/>
                <a:ea typeface="Times New Roman Bold"/>
                <a:cs typeface="Times New Roman Bold"/>
                <a:sym typeface="Times New Roman Bold"/>
              </a:rPr>
              <a:t>8</a:t>
            </a:r>
            <a:endParaRPr lang="en-US" sz="2000" b="1" dirty="0">
              <a:solidFill>
                <a:srgbClr val="000000"/>
              </a:solidFill>
              <a:latin typeface="Times New Roman Bold"/>
              <a:ea typeface="Times New Roman Bold"/>
              <a:cs typeface="Times New Roman Bold"/>
              <a:sym typeface="Times New Roman Bold"/>
            </a:endParaRPr>
          </a:p>
          <a:p>
            <a:pPr algn="l">
              <a:lnSpc>
                <a:spcPts val="2400"/>
              </a:lnSpc>
            </a:pPr>
            <a:r>
              <a:rPr lang="en-US" sz="2000" b="1" dirty="0">
                <a:solidFill>
                  <a:srgbClr val="000000"/>
                </a:solidFill>
                <a:latin typeface="Times New Roman Bold"/>
                <a:ea typeface="Times New Roman Bold"/>
                <a:cs typeface="Times New Roman Bold"/>
                <a:sym typeface="Times New Roman Bold"/>
              </a:rPr>
              <a:t>STUDENT DETAILS:</a:t>
            </a:r>
          </a:p>
        </p:txBody>
      </p:sp>
      <p:sp>
        <p:nvSpPr>
          <p:cNvPr id="6" name="TextBox 6"/>
          <p:cNvSpPr txBox="1"/>
          <p:nvPr/>
        </p:nvSpPr>
        <p:spPr>
          <a:xfrm>
            <a:off x="0" y="9088912"/>
            <a:ext cx="7147291" cy="729295"/>
          </a:xfrm>
          <a:prstGeom prst="rect">
            <a:avLst/>
          </a:prstGeom>
        </p:spPr>
        <p:txBody>
          <a:bodyPr lIns="0" tIns="0" rIns="0" bIns="0" rtlCol="0" anchor="t">
            <a:spAutoFit/>
          </a:bodyPr>
          <a:lstStyle/>
          <a:p>
            <a:pPr algn="ctr">
              <a:lnSpc>
                <a:spcPts val="4759"/>
              </a:lnSpc>
            </a:pPr>
            <a:r>
              <a:rPr lang="en-US" sz="3000">
                <a:solidFill>
                  <a:srgbClr val="000000"/>
                </a:solidFill>
                <a:latin typeface="Times New Roman"/>
                <a:ea typeface="Times New Roman"/>
                <a:cs typeface="Times New Roman"/>
                <a:sym typeface="Times New Roman"/>
              </a:rPr>
              <a:t>SIGN OF SUPERIVISOR</a:t>
            </a:r>
          </a:p>
        </p:txBody>
      </p:sp>
      <p:sp>
        <p:nvSpPr>
          <p:cNvPr id="7" name="TextBox 7"/>
          <p:cNvSpPr txBox="1"/>
          <p:nvPr/>
        </p:nvSpPr>
        <p:spPr>
          <a:xfrm>
            <a:off x="10251344" y="9066212"/>
            <a:ext cx="7147291" cy="729295"/>
          </a:xfrm>
          <a:prstGeom prst="rect">
            <a:avLst/>
          </a:prstGeom>
        </p:spPr>
        <p:txBody>
          <a:bodyPr lIns="0" tIns="0" rIns="0" bIns="0" rtlCol="0" anchor="t">
            <a:spAutoFit/>
          </a:bodyPr>
          <a:lstStyle/>
          <a:p>
            <a:pPr algn="ctr">
              <a:lnSpc>
                <a:spcPts val="4759"/>
              </a:lnSpc>
            </a:pPr>
            <a:r>
              <a:rPr lang="en-US" sz="3000">
                <a:solidFill>
                  <a:srgbClr val="000000"/>
                </a:solidFill>
                <a:latin typeface="Times New Roman"/>
                <a:ea typeface="Times New Roman"/>
                <a:cs typeface="Times New Roman"/>
                <a:sym typeface="Times New Roman"/>
              </a:rPr>
              <a:t>SIGN OF HOD</a:t>
            </a:r>
          </a:p>
        </p:txBody>
      </p:sp>
      <p:grpSp>
        <p:nvGrpSpPr>
          <p:cNvPr id="8" name="Group 8"/>
          <p:cNvGrpSpPr/>
          <p:nvPr/>
        </p:nvGrpSpPr>
        <p:grpSpPr>
          <a:xfrm>
            <a:off x="5245972" y="2972740"/>
            <a:ext cx="6906691" cy="6264922"/>
            <a:chOff x="0" y="0"/>
            <a:chExt cx="9208921" cy="8353229"/>
          </a:xfrm>
        </p:grpSpPr>
        <p:sp>
          <p:nvSpPr>
            <p:cNvPr id="9" name="Freeform 9"/>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3">
                <a:alphaModFix amt="30000"/>
              </a:blip>
              <a:stretch>
                <a:fillRect t="-5121" b="-5122"/>
              </a:stretch>
            </a:blipFill>
          </p:spPr>
        </p:sp>
      </p:grpSp>
      <p:graphicFrame>
        <p:nvGraphicFramePr>
          <p:cNvPr id="10" name="Table 10"/>
          <p:cNvGraphicFramePr>
            <a:graphicFrameLocks noGrp="1"/>
          </p:cNvGraphicFramePr>
          <p:nvPr>
            <p:extLst>
              <p:ext uri="{D42A27DB-BD31-4B8C-83A1-F6EECF244321}">
                <p14:modId xmlns:p14="http://schemas.microsoft.com/office/powerpoint/2010/main" val="1216684200"/>
              </p:ext>
            </p:extLst>
          </p:nvPr>
        </p:nvGraphicFramePr>
        <p:xfrm>
          <a:off x="1371600" y="3725400"/>
          <a:ext cx="8115300" cy="4255401"/>
        </p:xfrm>
        <a:graphic>
          <a:graphicData uri="http://schemas.openxmlformats.org/drawingml/2006/table">
            <a:tbl>
              <a:tblPr/>
              <a:tblGrid>
                <a:gridCol w="1157848">
                  <a:extLst>
                    <a:ext uri="{9D8B030D-6E8A-4147-A177-3AD203B41FA5}">
                      <a16:colId xmlns:a16="http://schemas.microsoft.com/office/drawing/2014/main" val="20000"/>
                    </a:ext>
                  </a:extLst>
                </a:gridCol>
                <a:gridCol w="4252352">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1029320">
                <a:tc>
                  <a:txBody>
                    <a:bodyPr/>
                    <a:lstStyle/>
                    <a:p>
                      <a:pPr algn="ctr">
                        <a:lnSpc>
                          <a:spcPts val="3219"/>
                        </a:lnSpc>
                        <a:defRPr/>
                      </a:pPr>
                      <a:r>
                        <a:rPr lang="en-US" sz="2299">
                          <a:solidFill>
                            <a:srgbClr val="000000"/>
                          </a:solidFill>
                          <a:latin typeface="Times New Roman"/>
                          <a:ea typeface="Times New Roman"/>
                          <a:cs typeface="Times New Roman"/>
                          <a:sym typeface="Times New Roman"/>
                        </a:rPr>
                        <a:t>SNO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dirty="0">
                          <a:solidFill>
                            <a:srgbClr val="000000"/>
                          </a:solidFill>
                          <a:latin typeface="Times New Roman Bold"/>
                          <a:ea typeface="Times New Roman Bold"/>
                          <a:cs typeface="Times New Roman Bold"/>
                          <a:sym typeface="Times New Roman Bold"/>
                        </a:rPr>
                        <a:t>NAME OF THE STUDENT</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b="1" dirty="0">
                          <a:solidFill>
                            <a:srgbClr val="000000"/>
                          </a:solidFill>
                          <a:latin typeface="Times New Roman Bold"/>
                          <a:ea typeface="Times New Roman Bold"/>
                          <a:cs typeface="Times New Roman Bold"/>
                          <a:sym typeface="Times New Roman Bold"/>
                        </a:rPr>
                        <a:t>REGISTER NUMBER</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04981">
                <a:tc>
                  <a:txBody>
                    <a:bodyPr/>
                    <a:lstStyle/>
                    <a:p>
                      <a:pPr algn="ctr">
                        <a:lnSpc>
                          <a:spcPts val="2800"/>
                        </a:lnSpc>
                        <a:defRPr/>
                      </a:pPr>
                      <a:r>
                        <a:rPr lang="en-US" sz="2000">
                          <a:solidFill>
                            <a:srgbClr val="000000"/>
                          </a:solidFill>
                          <a:latin typeface="Times New Roman"/>
                          <a:ea typeface="Times New Roman"/>
                          <a:cs typeface="Times New Roman"/>
                          <a:sym typeface="Times New Roman"/>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Times New Roman"/>
                          <a:ea typeface="Times New Roman"/>
                          <a:cs typeface="Times New Roman"/>
                          <a:sym typeface="Times New Roman"/>
                        </a:rPr>
                        <a:t>B. Ajay Kumar</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Arimo"/>
                          <a:ea typeface="Arimo"/>
                          <a:cs typeface="Arimo"/>
                          <a:sym typeface="Arimo"/>
                        </a:rPr>
                        <a:t>22K61A4204</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4981">
                <a:tc>
                  <a:txBody>
                    <a:bodyPr/>
                    <a:lstStyle/>
                    <a:p>
                      <a:pPr algn="ctr">
                        <a:lnSpc>
                          <a:spcPts val="2800"/>
                        </a:lnSpc>
                        <a:defRPr/>
                      </a:pPr>
                      <a:r>
                        <a:rPr lang="en-US" sz="2000">
                          <a:solidFill>
                            <a:srgbClr val="000000"/>
                          </a:solidFill>
                          <a:latin typeface="Times New Roman"/>
                          <a:ea typeface="Times New Roman"/>
                          <a:cs typeface="Times New Roman"/>
                          <a:sym typeface="Times New Roman"/>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Times New Roman"/>
                          <a:cs typeface="Times New Roman"/>
                          <a:sym typeface="Times New Roman"/>
                        </a:rPr>
                        <a:t>P.Phani Harshith</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Arimo"/>
                          <a:ea typeface="Arimo"/>
                          <a:cs typeface="Arimo"/>
                          <a:sym typeface="Arimo"/>
                        </a:rPr>
                        <a:t>22K61A4245</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0259">
                <a:tc>
                  <a:txBody>
                    <a:bodyPr/>
                    <a:lstStyle/>
                    <a:p>
                      <a:pPr algn="ctr">
                        <a:lnSpc>
                          <a:spcPts val="2800"/>
                        </a:lnSpc>
                        <a:defRPr/>
                      </a:pPr>
                      <a:r>
                        <a:rPr lang="en-US" sz="2000">
                          <a:solidFill>
                            <a:srgbClr val="000000"/>
                          </a:solidFill>
                          <a:latin typeface="Times New Roman"/>
                          <a:ea typeface="Times New Roman"/>
                          <a:cs typeface="Times New Roman"/>
                          <a:sym typeface="Times New Roman"/>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Times New Roman"/>
                          <a:cs typeface="Times New Roman"/>
                          <a:sym typeface="Times New Roman"/>
                        </a:rPr>
                        <a:t>T. Ram Gopal Chowdary</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Times New Roman"/>
                          <a:ea typeface="Times New Roman"/>
                          <a:cs typeface="Times New Roman"/>
                          <a:sym typeface="Times New Roman"/>
                        </a:rPr>
                        <a:t>22K61A4253</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6475">
                <a:tc>
                  <a:txBody>
                    <a:bodyPr/>
                    <a:lstStyle/>
                    <a:p>
                      <a:pPr algn="ctr">
                        <a:lnSpc>
                          <a:spcPts val="2800"/>
                        </a:lnSpc>
                        <a:defRPr/>
                      </a:pPr>
                      <a:r>
                        <a:rPr lang="en-US" sz="2000">
                          <a:solidFill>
                            <a:srgbClr val="000000"/>
                          </a:solidFill>
                          <a:latin typeface="Times New Roman"/>
                          <a:ea typeface="Times New Roman"/>
                          <a:cs typeface="Times New Roman"/>
                          <a:sym typeface="Times New Roman"/>
                        </a:rPr>
                        <a:t>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Times New Roman"/>
                          <a:cs typeface="Times New Roman"/>
                          <a:sym typeface="Times New Roman"/>
                        </a:rPr>
                        <a:t>T. Durga Naga Shiva Gavi Reddy</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solidFill>
                            <a:srgbClr val="000000"/>
                          </a:solidFill>
                          <a:latin typeface="Times New Roman"/>
                          <a:ea typeface="Times New Roman"/>
                          <a:cs typeface="Times New Roman"/>
                          <a:sym typeface="Times New Roman"/>
                        </a:rPr>
                        <a:t>22K61A4255</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13200" y="2254469"/>
            <a:ext cx="6906691" cy="6264922"/>
            <a:chOff x="0" y="0"/>
            <a:chExt cx="9208921" cy="8353229"/>
          </a:xfrm>
        </p:grpSpPr>
        <p:sp>
          <p:nvSpPr>
            <p:cNvPr id="3" name="Freeform 3"/>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sp>
        <p:nvSpPr>
          <p:cNvPr id="4" name="TextBox 4"/>
          <p:cNvSpPr txBox="1"/>
          <p:nvPr/>
        </p:nvSpPr>
        <p:spPr>
          <a:xfrm>
            <a:off x="6015048" y="381699"/>
            <a:ext cx="6102995" cy="1872770"/>
          </a:xfrm>
          <a:prstGeom prst="rect">
            <a:avLst/>
          </a:prstGeom>
        </p:spPr>
        <p:txBody>
          <a:bodyPr lIns="0" tIns="0" rIns="0" bIns="0" rtlCol="0" anchor="t">
            <a:spAutoFit/>
          </a:bodyPr>
          <a:lstStyle/>
          <a:p>
            <a:pPr algn="ctr">
              <a:lnSpc>
                <a:spcPts val="9000"/>
              </a:lnSpc>
            </a:pPr>
            <a:r>
              <a:rPr lang="en-US" sz="3600" b="1">
                <a:solidFill>
                  <a:srgbClr val="000000"/>
                </a:solidFill>
                <a:latin typeface="Times New Roman Bold"/>
                <a:ea typeface="Times New Roman Bold"/>
                <a:cs typeface="Times New Roman Bold"/>
                <a:sym typeface="Times New Roman Bold"/>
              </a:rPr>
              <a:t>ABSTRACT</a:t>
            </a:r>
          </a:p>
        </p:txBody>
      </p:sp>
      <p:sp>
        <p:nvSpPr>
          <p:cNvPr id="5" name="TextBox 5"/>
          <p:cNvSpPr txBox="1"/>
          <p:nvPr/>
        </p:nvSpPr>
        <p:spPr>
          <a:xfrm>
            <a:off x="1295400" y="2324100"/>
            <a:ext cx="16231694" cy="4710392"/>
          </a:xfrm>
          <a:prstGeom prst="rect">
            <a:avLst/>
          </a:prstGeom>
        </p:spPr>
        <p:txBody>
          <a:bodyPr wrap="square" lIns="0" tIns="0" rIns="0" bIns="0" rtlCol="0" anchor="t">
            <a:spAutoFit/>
          </a:bodyPr>
          <a:lstStyle/>
          <a:p>
            <a:pPr algn="just">
              <a:lnSpc>
                <a:spcPts val="3739"/>
              </a:lnSpc>
            </a:pPr>
            <a:r>
              <a:rPr lang="en-US" sz="2800" b="0" i="0" dirty="0">
                <a:effectLst/>
                <a:latin typeface="Times New Roman" panose="02020603050405020304" pitchFamily="18" charset="0"/>
                <a:cs typeface="Times New Roman" panose="02020603050405020304" pitchFamily="18" charset="0"/>
              </a:rPr>
              <a:t>Organ matching prediction enhances the way medical professionals allocate organs and finds valuable applications in fields such as healthcare systems, transplant medicine, and patient survival optimization. This review introduces intelligent machine learning models capable of predicting transplant outcomes from donor-recipient matching data. The models are designed to be accurate and efficient, utilizing advanced algorithms without requiring traditional points-based systems, making them suitable for deployment in modern healthcare networks and transplant centers. They are robust and data-driven, trained on large-scale transplant datasets to ensure superior performance across diverse patient populations and medical environments. The models can accurately predict outcomes for major organs such as heart, lung, kidney, and liver transplants, with performance metrics showing AUC values ranging from 0.624 to 0.838, making them highly applicable in real-world scenarios like organ allocation optimization, patient survival prediction, and transplant center decision-making systems.</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7800" y="238511"/>
            <a:ext cx="16175054" cy="876202"/>
          </a:xfrm>
          <a:prstGeom prst="rect">
            <a:avLst/>
          </a:prstGeom>
        </p:spPr>
        <p:txBody>
          <a:bodyPr lIns="0" tIns="0" rIns="0" bIns="0" rtlCol="0" anchor="t">
            <a:spAutoFit/>
          </a:bodyPr>
          <a:lstStyle/>
          <a:p>
            <a:pPr algn="ctr">
              <a:lnSpc>
                <a:spcPts val="8080"/>
              </a:lnSpc>
            </a:pPr>
            <a:r>
              <a:rPr lang="en-US" sz="3232" b="1" dirty="0">
                <a:solidFill>
                  <a:srgbClr val="000000"/>
                </a:solidFill>
                <a:latin typeface="Times New Roman Bold"/>
                <a:ea typeface="Times New Roman Bold"/>
                <a:cs typeface="Times New Roman Bold"/>
                <a:sym typeface="Times New Roman Bold"/>
              </a:rPr>
              <a:t>LITERATURE SURVEY</a:t>
            </a:r>
          </a:p>
        </p:txBody>
      </p:sp>
      <p:grpSp>
        <p:nvGrpSpPr>
          <p:cNvPr id="3" name="Group 3"/>
          <p:cNvGrpSpPr/>
          <p:nvPr/>
        </p:nvGrpSpPr>
        <p:grpSpPr>
          <a:xfrm>
            <a:off x="5622725" y="2254469"/>
            <a:ext cx="6906691" cy="6264922"/>
            <a:chOff x="0" y="0"/>
            <a:chExt cx="9208921" cy="8353229"/>
          </a:xfrm>
        </p:grpSpPr>
        <p:sp>
          <p:nvSpPr>
            <p:cNvPr id="4" name="Freeform 4"/>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sp>
        <p:nvSpPr>
          <p:cNvPr id="5" name="TextBox 5"/>
          <p:cNvSpPr txBox="1"/>
          <p:nvPr/>
        </p:nvSpPr>
        <p:spPr>
          <a:xfrm>
            <a:off x="1066800" y="1257300"/>
            <a:ext cx="15417557" cy="7914987"/>
          </a:xfrm>
          <a:prstGeom prst="rect">
            <a:avLst/>
          </a:prstGeom>
        </p:spPr>
        <p:txBody>
          <a:bodyPr lIns="0" tIns="0" rIns="0" bIns="0" rtlCol="0" anchor="t">
            <a:spAutoFit/>
          </a:bodyPr>
          <a:lstStyle/>
          <a:p>
            <a:pPr algn="l">
              <a:lnSpc>
                <a:spcPts val="4025"/>
              </a:lnSpc>
            </a:pPr>
            <a:r>
              <a:rPr lang="en-US" sz="3600" b="1" dirty="0">
                <a:latin typeface="Times New Roman" panose="02020603050405020304" pitchFamily="18" charset="0"/>
                <a:cs typeface="Times New Roman" panose="02020603050405020304" pitchFamily="18" charset="0"/>
              </a:rPr>
              <a:t>Optimizing Kidney Donor-Recipient Matching with ML</a:t>
            </a:r>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Key Findings</a:t>
            </a:r>
            <a:endParaRPr lang="en-US" sz="2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ML-based approach significantly improves donor-recipient matching and allocation efficiency.</a:t>
            </a: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Gradient Boost model achieved a consistent 98% accuracy in kidney allocation.</a:t>
            </a: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custom ranking algorithm was designed that outperformed traditional similarity methods.</a:t>
            </a:r>
          </a:p>
          <a:p>
            <a:pPr algn="l">
              <a:lnSpc>
                <a:spcPts val="3445"/>
              </a:lnSpc>
            </a:pPr>
            <a:endParaRPr lang="en-US" sz="2800" dirty="0">
              <a:latin typeface="Times New Roman" panose="02020603050405020304" pitchFamily="18" charset="0"/>
              <a:cs typeface="Times New Roman" panose="02020603050405020304" pitchFamily="18" charset="0"/>
              <a:sym typeface="Times New Roman"/>
            </a:endParaRPr>
          </a:p>
          <a:p>
            <a:r>
              <a:rPr lang="en-US" sz="2800" b="1" dirty="0">
                <a:latin typeface="Times New Roman" panose="02020603050405020304" pitchFamily="18" charset="0"/>
                <a:cs typeface="Times New Roman" panose="02020603050405020304" pitchFamily="18" charset="0"/>
              </a:rPr>
              <a:t>Models</a:t>
            </a:r>
            <a:endParaRPr lang="en-US" sz="2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Logistic Regression.</a:t>
            </a: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Decision Tree, Random Forest.</a:t>
            </a: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Support Vector Machine (SVM).</a:t>
            </a: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Gradient Boosting.</a:t>
            </a: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Bagging Classifier.</a:t>
            </a:r>
          </a:p>
          <a:p>
            <a:pPr algn="l">
              <a:lnSpc>
                <a:spcPts val="3445"/>
              </a:lnSpc>
            </a:pPr>
            <a:endPar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r>
              <a:rPr lang="en-US" sz="2800" b="1" dirty="0">
                <a:latin typeface="Times New Roman" panose="02020603050405020304" pitchFamily="18" charset="0"/>
                <a:cs typeface="Times New Roman" panose="02020603050405020304" pitchFamily="18" charset="0"/>
              </a:rPr>
              <a:t>Limitations</a:t>
            </a:r>
            <a:endParaRPr lang="en-US" sz="28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General limitations of ML models such as potential data bias, challenges in interpretability, and generalization to entirely unseen data may apply, though not explicitly detailed in the provided text</a:t>
            </a:r>
            <a:r>
              <a:rPr lang="en-US" sz="3200" dirty="0"/>
              <a:t>.</a:t>
            </a:r>
          </a:p>
          <a:p>
            <a:pPr algn="l">
              <a:lnSpc>
                <a:spcPts val="3445"/>
              </a:lnSpc>
            </a:pPr>
            <a:endParaRPr lang="en-US" sz="2871"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92F2B9BE-00C8-4630-BE86-68F0BA3DC1A1}"/>
              </a:ext>
            </a:extLst>
          </p:cNvPr>
          <p:cNvGrpSpPr/>
          <p:nvPr/>
        </p:nvGrpSpPr>
        <p:grpSpPr>
          <a:xfrm>
            <a:off x="5943600" y="1714500"/>
            <a:ext cx="6906691" cy="6264922"/>
            <a:chOff x="0" y="0"/>
            <a:chExt cx="9208921" cy="8353229"/>
          </a:xfrm>
        </p:grpSpPr>
        <p:sp>
          <p:nvSpPr>
            <p:cNvPr id="3" name="Freeform 9">
              <a:extLst>
                <a:ext uri="{FF2B5EF4-FFF2-40B4-BE49-F238E27FC236}">
                  <a16:creationId xmlns:a16="http://schemas.microsoft.com/office/drawing/2014/main" id="{3D2299D8-E08F-4E1A-9A3E-5857D0AF0B16}"/>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sp>
        <p:nvSpPr>
          <p:cNvPr id="7" name="Rectangle 3">
            <a:extLst>
              <a:ext uri="{FF2B5EF4-FFF2-40B4-BE49-F238E27FC236}">
                <a16:creationId xmlns:a16="http://schemas.microsoft.com/office/drawing/2014/main" id="{E94B5B64-1BE3-4CB6-ABC5-7BF820B4D686}"/>
              </a:ext>
            </a:extLst>
          </p:cNvPr>
          <p:cNvSpPr>
            <a:spLocks noChangeArrowheads="1"/>
          </p:cNvSpPr>
          <p:nvPr/>
        </p:nvSpPr>
        <p:spPr bwMode="auto">
          <a:xfrm>
            <a:off x="723900" y="511462"/>
            <a:ext cx="16840200" cy="92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Heart Transplantation Outcomes and Matching Suitability</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Matching for heart is primarily restricted by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blood group compatibility and chest size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(typically requiring 	a donor within 20% of the recipient's weight).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 combined with SMOTE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superior predictive performance for matching, 	achieving an Area Under the Curve (AUC).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Female donor hearts have approximately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 less muscle mass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than male hearts of the same weight, 	meaning programs often prefer larger female donors when matching to male recipients.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 (LR)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Machines (SVM)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Balancing Techniques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SMOTE and Random Under-sampling (RUS) to handle imbalanced survival 	datasets.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 Imbalance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Transplantation datasets typically contain many more survival cases than deaths for short-	term analysis, which can make models "naive" if not corrected through re-sampling.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Variable Consistency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Some predictors appear significant for short-term and long-term survival but not 	medium-term, suggesting potential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overfitting or multicollinearity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Data</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Large registries (like UNOS) often have missing records that must be eliminated or imputed, 	which can limit the benefits of data-driven models for individual patients</a:t>
            </a:r>
          </a:p>
        </p:txBody>
      </p:sp>
    </p:spTree>
    <p:extLst>
      <p:ext uri="{BB962C8B-B14F-4D97-AF65-F5344CB8AC3E}">
        <p14:creationId xmlns:p14="http://schemas.microsoft.com/office/powerpoint/2010/main" val="9984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92F2B9BE-00C8-4630-BE86-68F0BA3DC1A1}"/>
              </a:ext>
            </a:extLst>
          </p:cNvPr>
          <p:cNvGrpSpPr/>
          <p:nvPr/>
        </p:nvGrpSpPr>
        <p:grpSpPr>
          <a:xfrm>
            <a:off x="5943600" y="1714500"/>
            <a:ext cx="6906691" cy="6264922"/>
            <a:chOff x="0" y="0"/>
            <a:chExt cx="9208921" cy="8353229"/>
          </a:xfrm>
        </p:grpSpPr>
        <p:sp>
          <p:nvSpPr>
            <p:cNvPr id="3" name="Freeform 9">
              <a:extLst>
                <a:ext uri="{FF2B5EF4-FFF2-40B4-BE49-F238E27FC236}">
                  <a16:creationId xmlns:a16="http://schemas.microsoft.com/office/drawing/2014/main" id="{3D2299D8-E08F-4E1A-9A3E-5857D0AF0B16}"/>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sp>
        <p:nvSpPr>
          <p:cNvPr id="7" name="Rectangle 3">
            <a:extLst>
              <a:ext uri="{FF2B5EF4-FFF2-40B4-BE49-F238E27FC236}">
                <a16:creationId xmlns:a16="http://schemas.microsoft.com/office/drawing/2014/main" id="{E94B5B64-1BE3-4CB6-ABC5-7BF820B4D686}"/>
              </a:ext>
            </a:extLst>
          </p:cNvPr>
          <p:cNvSpPr>
            <a:spLocks noChangeArrowheads="1"/>
          </p:cNvSpPr>
          <p:nvPr/>
        </p:nvSpPr>
        <p:spPr bwMode="auto">
          <a:xfrm>
            <a:off x="723900" y="1054405"/>
            <a:ext cx="16840200"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Advanced Donor-Recipient Matching in Lung Transplantations</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(ML) architectures exceed the predictive capacity of classical statistical 	methods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donor-recipient 	  	 matching.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Hybrid models achieved a stable accuracy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98.10%</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predicting 6-month survival by dividing the process into 	  	hierarchical components: blood, age, and HLA compatibility.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Higher pre-transplant and post-transplant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Vital Capacity (FVC)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shorter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ischemia times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identified as 	primary predictors for increased survival probability.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For combined heart-lung transplants, integrated data mining methodology reached accuracy rates between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79% and 86%</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 using Initial Covariates and Product Units (LRIPU).</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Cox Proportional Hazards Models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with ML-driven variables).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internationally used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Lung Allocation Score (LAS)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has recognized limitations, such as failing to consider certain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critical 	donor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recipient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Predictive success is often limited by biological complexities like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ischemia time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(deleterious if 	over 8 hours)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donor-	recipient graft size disproportion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94947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587536368"/>
              </p:ext>
            </p:extLst>
          </p:nvPr>
        </p:nvGraphicFramePr>
        <p:xfrm>
          <a:off x="838199" y="771706"/>
          <a:ext cx="16230600" cy="8489988"/>
        </p:xfrm>
        <a:graphic>
          <a:graphicData uri="http://schemas.openxmlformats.org/drawingml/2006/table">
            <a:tbl>
              <a:tblPr/>
              <a:tblGrid>
                <a:gridCol w="987448">
                  <a:extLst>
                    <a:ext uri="{9D8B030D-6E8A-4147-A177-3AD203B41FA5}">
                      <a16:colId xmlns:a16="http://schemas.microsoft.com/office/drawing/2014/main" val="20000"/>
                    </a:ext>
                  </a:extLst>
                </a:gridCol>
                <a:gridCol w="1707854">
                  <a:extLst>
                    <a:ext uri="{9D8B030D-6E8A-4147-A177-3AD203B41FA5}">
                      <a16:colId xmlns:a16="http://schemas.microsoft.com/office/drawing/2014/main" val="20001"/>
                    </a:ext>
                  </a:extLst>
                </a:gridCol>
                <a:gridCol w="2620454">
                  <a:extLst>
                    <a:ext uri="{9D8B030D-6E8A-4147-A177-3AD203B41FA5}">
                      <a16:colId xmlns:a16="http://schemas.microsoft.com/office/drawing/2014/main" val="20002"/>
                    </a:ext>
                  </a:extLst>
                </a:gridCol>
                <a:gridCol w="2160647">
                  <a:extLst>
                    <a:ext uri="{9D8B030D-6E8A-4147-A177-3AD203B41FA5}">
                      <a16:colId xmlns:a16="http://schemas.microsoft.com/office/drawing/2014/main" val="20003"/>
                    </a:ext>
                  </a:extLst>
                </a:gridCol>
                <a:gridCol w="1762584">
                  <a:extLst>
                    <a:ext uri="{9D8B030D-6E8A-4147-A177-3AD203B41FA5}">
                      <a16:colId xmlns:a16="http://schemas.microsoft.com/office/drawing/2014/main" val="20004"/>
                    </a:ext>
                  </a:extLst>
                </a:gridCol>
                <a:gridCol w="1657614">
                  <a:extLst>
                    <a:ext uri="{9D8B030D-6E8A-4147-A177-3AD203B41FA5}">
                      <a16:colId xmlns:a16="http://schemas.microsoft.com/office/drawing/2014/main" val="20005"/>
                    </a:ext>
                  </a:extLst>
                </a:gridCol>
                <a:gridCol w="1452416">
                  <a:extLst>
                    <a:ext uri="{9D8B030D-6E8A-4147-A177-3AD203B41FA5}">
                      <a16:colId xmlns:a16="http://schemas.microsoft.com/office/drawing/2014/main" val="20006"/>
                    </a:ext>
                  </a:extLst>
                </a:gridCol>
                <a:gridCol w="2453251">
                  <a:extLst>
                    <a:ext uri="{9D8B030D-6E8A-4147-A177-3AD203B41FA5}">
                      <a16:colId xmlns:a16="http://schemas.microsoft.com/office/drawing/2014/main" val="20007"/>
                    </a:ext>
                  </a:extLst>
                </a:gridCol>
                <a:gridCol w="1428332">
                  <a:extLst>
                    <a:ext uri="{9D8B030D-6E8A-4147-A177-3AD203B41FA5}">
                      <a16:colId xmlns:a16="http://schemas.microsoft.com/office/drawing/2014/main" val="20008"/>
                    </a:ext>
                  </a:extLst>
                </a:gridCol>
              </a:tblGrid>
              <a:tr h="1407405">
                <a:tc>
                  <a:txBody>
                    <a:bodyPr/>
                    <a:lstStyle/>
                    <a:p>
                      <a:pPr algn="ctr">
                        <a:lnSpc>
                          <a:spcPts val="2520"/>
                        </a:lnSpc>
                        <a:defRPr/>
                      </a:pPr>
                      <a:r>
                        <a:rPr lang="en-US" sz="1800" b="1" dirty="0" err="1">
                          <a:solidFill>
                            <a:srgbClr val="000000"/>
                          </a:solidFill>
                          <a:latin typeface="Times New Roman" panose="02020603050405020304" pitchFamily="18" charset="0"/>
                          <a:ea typeface="Times New Roman Bold"/>
                          <a:cs typeface="Times New Roman" panose="02020603050405020304" pitchFamily="18" charset="0"/>
                          <a:sym typeface="Times New Roman Bold"/>
                        </a:rPr>
                        <a:t>S.No</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Source</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Objective</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Models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Contributions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Practical Implementation</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Limitations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Features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Results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57236">
                <a:tc>
                  <a:txBody>
                    <a:bodyPr/>
                    <a:lstStyle/>
                    <a:p>
                      <a:pPr algn="ctr">
                        <a:lnSpc>
                          <a:spcPts val="2800"/>
                        </a:lnSpc>
                        <a:defRPr/>
                      </a:pPr>
                      <a:r>
                        <a:rPr lang="en-US" sz="1800">
                          <a:solidFill>
                            <a:srgbClr val="000000"/>
                          </a:solidFill>
                          <a:latin typeface="Times New Roman" panose="02020603050405020304" pitchFamily="18" charset="0"/>
                          <a:ea typeface="Times New Roman"/>
                          <a:cs typeface="Times New Roman" panose="02020603050405020304" pitchFamily="18" charset="0"/>
                          <a:sym typeface="Times New Roman"/>
                        </a:rPr>
                        <a:t>1</a:t>
                      </a:r>
                      <a:endParaRPr lang="en-US" sz="180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Diagnostics </a:t>
                      </a:r>
                    </a:p>
                    <a:p>
                      <a:pPr algn="ctr">
                        <a:lnSpc>
                          <a:spcPts val="2380"/>
                        </a:lnSpc>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Journal, 2024</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ML-based model for kidney donor-recipient.</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random forest, SVM, gradient boosting,</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latin typeface="Times New Roman" panose="02020603050405020304" pitchFamily="18" charset="0"/>
                          <a:cs typeface="Times New Roman" panose="02020603050405020304" pitchFamily="18" charset="0"/>
                        </a:rPr>
                        <a:t>Custom ranking, web</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"Nephron" web platform</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Real data limits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HLA, ABO, age</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GB: 98%-99% accuracy</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46759">
                <a:tc>
                  <a:txBody>
                    <a:bodyPr/>
                    <a:lstStyle/>
                    <a:p>
                      <a:pPr algn="ctr">
                        <a:lnSpc>
                          <a:spcPts val="280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2</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Copeland et al,</a:t>
                      </a:r>
                    </a:p>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Heart-Lung Transplantation</a:t>
                      </a:r>
                    </a:p>
                    <a:p>
                      <a:pPr algn="ctr">
                        <a:lnSpc>
                          <a:spcPts val="2380"/>
                        </a:lnSpc>
                        <a:defRPr/>
                      </a:pPr>
                      <a:r>
                        <a:rPr lang="en-US" sz="1800" dirty="0">
                          <a:solidFill>
                            <a:srgbClr val="000000"/>
                          </a:solidFill>
                          <a:latin typeface="Times New Roman" panose="02020603050405020304" pitchFamily="18" charset="0"/>
                          <a:cs typeface="Times New Roman" panose="02020603050405020304" pitchFamily="18" charset="0"/>
                          <a:sym typeface="Times New Roman"/>
                        </a:rPr>
                        <a:t>2020</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Heart/lung procurement</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Consensus/</a:t>
                      </a:r>
                    </a:p>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standardization</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Process framework</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International consensus guide</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Practice variation</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660"/>
                        </a:lnSpc>
                        <a:defRPr/>
                      </a:pPr>
                      <a:r>
                        <a:rPr lang="en-US" sz="1800" dirty="0">
                          <a:latin typeface="Times New Roman" panose="02020603050405020304" pitchFamily="18" charset="0"/>
                          <a:cs typeface="Times New Roman" panose="02020603050405020304" pitchFamily="18" charset="0"/>
                        </a:rPr>
                        <a:t>Donor/recipient eval</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Standardized process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49959">
                <a:tc>
                  <a:txBody>
                    <a:bodyPr/>
                    <a:lstStyle/>
                    <a:p>
                      <a:pPr algn="ctr">
                        <a:lnSpc>
                          <a:spcPts val="2800"/>
                        </a:lnSpc>
                        <a:defRPr/>
                      </a:pPr>
                      <a:r>
                        <a:rPr lang="en-US" sz="1800">
                          <a:solidFill>
                            <a:srgbClr val="000000"/>
                          </a:solidFill>
                          <a:latin typeface="Times New Roman" panose="02020603050405020304" pitchFamily="18" charset="0"/>
                          <a:ea typeface="Times New Roman"/>
                          <a:cs typeface="Times New Roman" panose="02020603050405020304" pitchFamily="18" charset="0"/>
                          <a:sym typeface="Times New Roman"/>
                        </a:rPr>
                        <a:t>3</a:t>
                      </a:r>
                      <a:endParaRPr lang="en-US" sz="180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Yousaf et al., </a:t>
                      </a: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IEEE Conference Paper</a:t>
                      </a:r>
                    </a:p>
                    <a:p>
                      <a:pPr algn="ctr">
                        <a:lnSpc>
                          <a:spcPts val="2380"/>
                        </a:lnSpc>
                        <a:defRPr/>
                      </a:pPr>
                      <a:r>
                        <a:rPr lang="en-US" sz="1800" dirty="0">
                          <a:solidFill>
                            <a:srgbClr val="000000"/>
                          </a:solidFill>
                          <a:latin typeface="Times New Roman" panose="02020603050405020304" pitchFamily="18" charset="0"/>
                          <a:cs typeface="Times New Roman" panose="02020603050405020304" pitchFamily="18" charset="0"/>
                          <a:sym typeface="Times New Roman"/>
                        </a:rPr>
                        <a:t>2025</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Heart disease ML</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latin typeface="Times New Roman" panose="02020603050405020304" pitchFamily="18" charset="0"/>
                          <a:cs typeface="Times New Roman" panose="02020603050405020304" pitchFamily="18" charset="0"/>
                        </a:rPr>
                        <a:t>KNN, DT, SVM, LR, RF</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fontAlgn="base" latinLnBrk="0"/>
                      <a:br>
                        <a:rPr lang="en-US" sz="1800" dirty="0">
                          <a:effectLst/>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   Comparative</a:t>
                      </a:r>
                    </a:p>
                    <a:p>
                      <a:pPr fontAlgn="base" latinLnBrk="0"/>
                      <a:r>
                        <a:rPr lang="en-US" sz="1800" dirty="0">
                          <a:effectLst/>
                          <a:latin typeface="Times New Roman" panose="02020603050405020304" pitchFamily="18" charset="0"/>
                          <a:cs typeface="Times New Roman" panose="02020603050405020304" pitchFamily="18" charset="0"/>
                        </a:rPr>
                        <a:t>      Analysis</a:t>
                      </a:r>
                    </a:p>
                  </a:txBody>
                  <a:tcPr marL="60960" marR="6096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Clinical data experiment</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Small dataset size</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14 medical features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380"/>
                        </a:lnSpc>
                        <a:defRPr/>
                      </a:pPr>
                      <a:r>
                        <a:rPr lang="en-US" sz="1800" dirty="0">
                          <a:latin typeface="Times New Roman" panose="02020603050405020304" pitchFamily="18" charset="0"/>
                          <a:cs typeface="Times New Roman" panose="02020603050405020304" pitchFamily="18" charset="0"/>
                        </a:rPr>
                        <a:t>RF: 82%-83% accuracy</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55759">
                <a:tc>
                  <a:txBody>
                    <a:bodyPr/>
                    <a:lstStyle/>
                    <a:p>
                      <a:pPr algn="ctr">
                        <a:lnSpc>
                          <a:spcPts val="2800"/>
                        </a:lnSpc>
                        <a:defRPr/>
                      </a:pPr>
                      <a:r>
                        <a:rPr lang="en-US" sz="1800">
                          <a:solidFill>
                            <a:srgbClr val="000000"/>
                          </a:solidFill>
                          <a:latin typeface="Times New Roman" panose="02020603050405020304" pitchFamily="18" charset="0"/>
                          <a:ea typeface="Times New Roman"/>
                          <a:cs typeface="Times New Roman" panose="02020603050405020304" pitchFamily="18" charset="0"/>
                          <a:sym typeface="Times New Roman"/>
                        </a:rPr>
                        <a:t>4</a:t>
                      </a:r>
                      <a:endParaRPr lang="en-US" sz="180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  Dueñas-Jurado et al., </a:t>
                      </a:r>
                    </a:p>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  PLOS ONE</a:t>
                      </a:r>
                    </a:p>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   2021</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Lung match prediction</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      LR+NN, </a:t>
                      </a:r>
                    </a:p>
                    <a:p>
                      <a:pPr fontAlgn="base" latinLnBrk="0"/>
                      <a:r>
                        <a:rPr lang="en-US" sz="1800" dirty="0">
                          <a:effectLst/>
                          <a:latin typeface="Times New Roman" panose="02020603050405020304" pitchFamily="18" charset="0"/>
                          <a:cs typeface="Times New Roman" panose="02020603050405020304" pitchFamily="18" charset="0"/>
                        </a:rPr>
                        <a:t>    hybrid </a:t>
                      </a:r>
                    </a:p>
                  </a:txBody>
                  <a:tcPr marL="60960" marR="6096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Donor-recipient</a:t>
                      </a:r>
                    </a:p>
                    <a:p>
                      <a:pPr fontAlgn="base" latinLnBrk="0"/>
                      <a:r>
                        <a:rPr lang="en-US" sz="1800" dirty="0">
                          <a:effectLst/>
                          <a:latin typeface="Times New Roman" panose="02020603050405020304" pitchFamily="18" charset="0"/>
                          <a:cs typeface="Times New Roman" panose="02020603050405020304" pitchFamily="18" charset="0"/>
                        </a:rPr>
                        <a:t>      mode</a:t>
                      </a:r>
                    </a:p>
                  </a:txBody>
                  <a:tcPr marL="60960" marR="6096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Retrospective clinical app</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Single center data</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Survival, FVC, age</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379"/>
                        </a:lnSpc>
                        <a:defRPr/>
                      </a:pPr>
                      <a:r>
                        <a:rPr lang="en-US" sz="1800" dirty="0">
                          <a:solidFill>
                            <a:srgbClr val="000000"/>
                          </a:solidFill>
                          <a:latin typeface="Times New Roman" panose="02020603050405020304" pitchFamily="18" charset="0"/>
                          <a:ea typeface="Times New Roman"/>
                          <a:cs typeface="Times New Roman" panose="02020603050405020304" pitchFamily="18" charset="0"/>
                          <a:sym typeface="Times New Roman"/>
                        </a:rPr>
                        <a:t>Hybrid&gt;classic stats</a:t>
                      </a:r>
                      <a:endParaRPr lang="en-US" sz="1800" dirty="0">
                        <a:latin typeface="Times New Roman" panose="02020603050405020304" pitchFamily="18" charset="0"/>
                        <a:cs typeface="Times New Roman" panose="02020603050405020304" pitchFamily="18"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3"/>
          <p:cNvSpPr txBox="1"/>
          <p:nvPr/>
        </p:nvSpPr>
        <p:spPr>
          <a:xfrm>
            <a:off x="-53792" y="-190500"/>
            <a:ext cx="18014583" cy="865622"/>
          </a:xfrm>
          <a:prstGeom prst="rect">
            <a:avLst/>
          </a:prstGeom>
        </p:spPr>
        <p:txBody>
          <a:bodyPr lIns="0" tIns="0" rIns="0" bIns="0" rtlCol="0" anchor="t">
            <a:spAutoFit/>
          </a:bodyPr>
          <a:lstStyle/>
          <a:p>
            <a:pPr algn="ctr">
              <a:lnSpc>
                <a:spcPts val="8000"/>
              </a:lnSpc>
            </a:pPr>
            <a:r>
              <a:rPr lang="en-US" sz="3200" b="1" dirty="0">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91582" y="962260"/>
            <a:ext cx="11348591" cy="973793"/>
          </a:xfrm>
          <a:prstGeom prst="rect">
            <a:avLst/>
          </a:prstGeom>
        </p:spPr>
        <p:txBody>
          <a:bodyPr lIns="0" tIns="0" rIns="0" bIns="0" rtlCol="0" anchor="t">
            <a:spAutoFit/>
          </a:bodyPr>
          <a:lstStyle/>
          <a:p>
            <a:pPr algn="ctr">
              <a:lnSpc>
                <a:spcPts val="9000"/>
              </a:lnSpc>
            </a:pPr>
            <a:r>
              <a:rPr lang="en-US" sz="3600" b="1" dirty="0">
                <a:solidFill>
                  <a:srgbClr val="000000"/>
                </a:solidFill>
                <a:latin typeface="Times New Roman Bold"/>
                <a:ea typeface="Times New Roman Bold"/>
                <a:cs typeface="Times New Roman Bold"/>
                <a:sym typeface="Times New Roman Bold"/>
              </a:rPr>
              <a:t>GAP IDENTIFICATION</a:t>
            </a:r>
          </a:p>
        </p:txBody>
      </p:sp>
      <p:grpSp>
        <p:nvGrpSpPr>
          <p:cNvPr id="3" name="Group 3"/>
          <p:cNvGrpSpPr/>
          <p:nvPr/>
        </p:nvGrpSpPr>
        <p:grpSpPr>
          <a:xfrm>
            <a:off x="5622725" y="2254469"/>
            <a:ext cx="6906691" cy="6264922"/>
            <a:chOff x="0" y="0"/>
            <a:chExt cx="9208921" cy="8353229"/>
          </a:xfrm>
        </p:grpSpPr>
        <p:sp>
          <p:nvSpPr>
            <p:cNvPr id="4" name="Freeform 4"/>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p:cNvGrpSpPr/>
          <p:nvPr/>
        </p:nvGrpSpPr>
        <p:grpSpPr>
          <a:xfrm>
            <a:off x="809009" y="2704068"/>
            <a:ext cx="15816446" cy="6617208"/>
            <a:chOff x="0" y="0"/>
            <a:chExt cx="21088595" cy="8822944"/>
          </a:xfrm>
        </p:grpSpPr>
        <p:sp>
          <p:nvSpPr>
            <p:cNvPr id="6" name="Freeform 6"/>
            <p:cNvSpPr/>
            <p:nvPr/>
          </p:nvSpPr>
          <p:spPr>
            <a:xfrm>
              <a:off x="0" y="0"/>
              <a:ext cx="21088595" cy="8822944"/>
            </a:xfrm>
            <a:custGeom>
              <a:avLst/>
              <a:gdLst/>
              <a:ahLst/>
              <a:cxnLst/>
              <a:rect l="l" t="t" r="r" b="b"/>
              <a:pathLst>
                <a:path w="21088595" h="8822944">
                  <a:moveTo>
                    <a:pt x="0" y="0"/>
                  </a:moveTo>
                  <a:lnTo>
                    <a:pt x="21088595" y="0"/>
                  </a:lnTo>
                  <a:lnTo>
                    <a:pt x="21088595" y="8822944"/>
                  </a:lnTo>
                  <a:lnTo>
                    <a:pt x="0" y="8822944"/>
                  </a:lnTo>
                  <a:close/>
                </a:path>
              </a:pathLst>
            </a:custGeom>
            <a:solidFill>
              <a:srgbClr val="000000">
                <a:alpha val="0"/>
              </a:srgbClr>
            </a:solidFill>
          </p:spPr>
          <p:txBody>
            <a:bodyPr/>
            <a:lstStyle/>
            <a:p>
              <a:endParaRPr lang="en-IN" dirty="0"/>
            </a:p>
          </p:txBody>
        </p:sp>
        <p:sp>
          <p:nvSpPr>
            <p:cNvPr id="7" name="TextBox 7"/>
            <p:cNvSpPr txBox="1"/>
            <p:nvPr/>
          </p:nvSpPr>
          <p:spPr>
            <a:xfrm>
              <a:off x="0" y="-47625"/>
              <a:ext cx="21088595" cy="8870569"/>
            </a:xfrm>
            <a:prstGeom prst="rect">
              <a:avLst/>
            </a:prstGeom>
          </p:spPr>
          <p:txBody>
            <a:bodyPr lIns="0" tIns="0" rIns="0" bIns="0" rtlCol="0" anchor="ctr"/>
            <a:lstStyle/>
            <a:p>
              <a:pPr marL="289560" lvl="1" indent="-144780" algn="l">
                <a:lnSpc>
                  <a:spcPts val="2879"/>
                </a:lnSpc>
              </a:pPr>
              <a:endParaRPr lang="en-US" sz="2400" dirty="0">
                <a:solidFill>
                  <a:srgbClr val="000000"/>
                </a:solidFill>
                <a:latin typeface="Times New Roman"/>
                <a:ea typeface="Times New Roman"/>
                <a:cs typeface="Times New Roman"/>
                <a:sym typeface="Times New Roman"/>
              </a:endParaRPr>
            </a:p>
          </p:txBody>
        </p:sp>
      </p:grpSp>
      <p:sp>
        <p:nvSpPr>
          <p:cNvPr id="9" name="Rectangle 2">
            <a:extLst>
              <a:ext uri="{FF2B5EF4-FFF2-40B4-BE49-F238E27FC236}">
                <a16:creationId xmlns:a16="http://schemas.microsoft.com/office/drawing/2014/main" id="{7742ED57-136A-291D-A472-316CEDA678D8}"/>
              </a:ext>
            </a:extLst>
          </p:cNvPr>
          <p:cNvSpPr>
            <a:spLocks noChangeArrowheads="1"/>
          </p:cNvSpPr>
          <p:nvPr/>
        </p:nvSpPr>
        <p:spPr bwMode="auto">
          <a:xfrm rot="10800000" flipV="1">
            <a:off x="1676400" y="165226"/>
            <a:ext cx="19888200" cy="95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lang="en-US" altLang="en-US" sz="28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sz="2800" b="1"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lang="en-US" altLang="en-US" sz="2800" b="1"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Dataset Scope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models have high bias and lack external validation.</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clinical variables are often missing or inconsistently reported.</a:t>
            </a:r>
            <a:endParaRPr lang="en-US" altLang="en-US" sz="28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Marginal Performance Gains:</a:t>
            </a:r>
          </a:p>
          <a:p>
            <a:pPr lvl="2"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Models don't generalize well across regions or centers.</a:t>
            </a:r>
          </a:p>
          <a:p>
            <a:pPr lvl="2"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data may not represent all patient groups, causing bias</a:t>
            </a:r>
            <a:endParaRPr lang="en-US" altLang="en-US" sz="28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Black-Box Interpretability Issues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2"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models are often not transparent or explainable.</a:t>
            </a:r>
          </a:p>
          <a:p>
            <a:pPr lvl="2"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Clinicians find it hard to trust decisions they can’t interpret.</a:t>
            </a:r>
            <a:endParaRPr lang="en-US" altLang="en-US" sz="28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 and Clinical Translation Gaps:</a:t>
            </a:r>
          </a:p>
          <a:p>
            <a:pPr lvl="1" eaLnBrk="0" fontAlgn="base" hangingPunct="0">
              <a:spcBef>
                <a:spcPct val="0"/>
              </a:spcBef>
              <a:spcAft>
                <a:spcPct val="0"/>
              </a:spcAf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prospective and external validation.</a:t>
            </a:r>
          </a:p>
          <a:p>
            <a:pPr lvl="1" eaLnBrk="0" fontAlgn="base" hangingPunct="0">
              <a:spcBef>
                <a:spcPct val="0"/>
              </a:spcBef>
              <a:spcAft>
                <a:spcPct val="0"/>
              </a:spcAf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Regulatory and interoperability barriers hinder adoption.</a:t>
            </a:r>
          </a:p>
          <a:p>
            <a:pPr marL="457200" indent="-457200" eaLnBrk="0" fontAlgn="base" hangingPunct="0">
              <a:spcBef>
                <a:spcPct val="0"/>
              </a:spcBef>
              <a:spcAft>
                <a:spcPct val="0"/>
              </a:spcAft>
              <a:buFont typeface="Wingdings" panose="05000000000000000000" pitchFamily="2" charset="2"/>
              <a:buChar char="q"/>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cs typeface="Times New Roman" panose="02020603050405020304" pitchFamily="18" charset="0"/>
              </a:rPr>
              <a:t>Performance and Outcome Prediction Gaps:</a:t>
            </a:r>
          </a:p>
          <a:p>
            <a:pPr lvl="2"/>
            <a:r>
              <a:rPr lang="en-US" sz="2800" b="0" i="0" dirty="0">
                <a:effectLst/>
                <a:latin typeface="Times New Roman" panose="02020603050405020304" pitchFamily="18" charset="0"/>
                <a:cs typeface="Times New Roman" panose="02020603050405020304" pitchFamily="18" charset="0"/>
              </a:rPr>
              <a:t>Focus is limited to specific outcomes, missing broader complications.</a:t>
            </a:r>
          </a:p>
          <a:p>
            <a:pPr lvl="2"/>
            <a:r>
              <a:rPr lang="en-US" sz="2800" b="0" i="0" dirty="0">
                <a:effectLst/>
                <a:latin typeface="Times New Roman" panose="02020603050405020304" pitchFamily="18" charset="0"/>
                <a:cs typeface="Times New Roman" panose="02020603050405020304" pitchFamily="18" charset="0"/>
              </a:rPr>
              <a:t>Gains over traditional methods are often minor or inconsistent.</a:t>
            </a:r>
          </a:p>
          <a:p>
            <a:pPr lvl="2" eaLnBrk="0" fontAlgn="base" hangingPunct="0">
              <a:spcBef>
                <a:spcPct val="0"/>
              </a:spcBef>
              <a:spcAft>
                <a:spcPct val="0"/>
              </a:spcAft>
            </a:pPr>
            <a:endParaRPr lang="en-US" sz="2800" b="1" i="0" dirty="0">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7EB20-4747-DDF7-565C-23D264F73FE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65AD3AC-4646-8BFB-5D82-BCA3B09B862D}"/>
              </a:ext>
            </a:extLst>
          </p:cNvPr>
          <p:cNvSpPr txBox="1"/>
          <p:nvPr/>
        </p:nvSpPr>
        <p:spPr>
          <a:xfrm>
            <a:off x="2891582" y="962260"/>
            <a:ext cx="11348591" cy="1883734"/>
          </a:xfrm>
          <a:prstGeom prst="rect">
            <a:avLst/>
          </a:prstGeom>
        </p:spPr>
        <p:txBody>
          <a:bodyPr lIns="0" tIns="0" rIns="0" bIns="0" rtlCol="0" anchor="t">
            <a:spAutoFit/>
          </a:bodyPr>
          <a:lstStyle/>
          <a:p>
            <a:pPr algn="ctr">
              <a:lnSpc>
                <a:spcPts val="9000"/>
              </a:lnSpc>
            </a:pPr>
            <a:r>
              <a:rPr lang="en-US" sz="3600" b="1" dirty="0">
                <a:solidFill>
                  <a:srgbClr val="000000"/>
                </a:solidFill>
                <a:latin typeface="Times New Roman Bold"/>
                <a:ea typeface="Times New Roman Bold"/>
                <a:cs typeface="Times New Roman Bold"/>
                <a:sym typeface="Times New Roman Bold"/>
              </a:rPr>
              <a:t>PROPOSED SYSTEM</a:t>
            </a:r>
          </a:p>
        </p:txBody>
      </p:sp>
      <p:grpSp>
        <p:nvGrpSpPr>
          <p:cNvPr id="3" name="Group 3">
            <a:extLst>
              <a:ext uri="{FF2B5EF4-FFF2-40B4-BE49-F238E27FC236}">
                <a16:creationId xmlns:a16="http://schemas.microsoft.com/office/drawing/2014/main" id="{7B367D33-4415-B503-CA3B-806F88D39832}"/>
              </a:ext>
            </a:extLst>
          </p:cNvPr>
          <p:cNvGrpSpPr/>
          <p:nvPr/>
        </p:nvGrpSpPr>
        <p:grpSpPr>
          <a:xfrm>
            <a:off x="5622725" y="2254469"/>
            <a:ext cx="6906691" cy="6264922"/>
            <a:chOff x="0" y="0"/>
            <a:chExt cx="9208921" cy="8353229"/>
          </a:xfrm>
        </p:grpSpPr>
        <p:sp>
          <p:nvSpPr>
            <p:cNvPr id="4" name="Freeform 4">
              <a:extLst>
                <a:ext uri="{FF2B5EF4-FFF2-40B4-BE49-F238E27FC236}">
                  <a16:creationId xmlns:a16="http://schemas.microsoft.com/office/drawing/2014/main" id="{96FEB959-E903-0EF4-E9B9-0CCDF2AF7409}"/>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a:extLst>
              <a:ext uri="{FF2B5EF4-FFF2-40B4-BE49-F238E27FC236}">
                <a16:creationId xmlns:a16="http://schemas.microsoft.com/office/drawing/2014/main" id="{C52E9FBD-429F-7B74-FB91-F11023844169}"/>
              </a:ext>
            </a:extLst>
          </p:cNvPr>
          <p:cNvGrpSpPr/>
          <p:nvPr/>
        </p:nvGrpSpPr>
        <p:grpSpPr>
          <a:xfrm>
            <a:off x="990600" y="2628900"/>
            <a:ext cx="15816446" cy="6617208"/>
            <a:chOff x="0" y="0"/>
            <a:chExt cx="21088595" cy="8822944"/>
          </a:xfrm>
        </p:grpSpPr>
        <p:sp>
          <p:nvSpPr>
            <p:cNvPr id="6" name="Freeform 6">
              <a:extLst>
                <a:ext uri="{FF2B5EF4-FFF2-40B4-BE49-F238E27FC236}">
                  <a16:creationId xmlns:a16="http://schemas.microsoft.com/office/drawing/2014/main" id="{3FB394FE-3486-A0F6-D531-30161A995B33}"/>
                </a:ext>
              </a:extLst>
            </p:cNvPr>
            <p:cNvSpPr/>
            <p:nvPr/>
          </p:nvSpPr>
          <p:spPr>
            <a:xfrm>
              <a:off x="0" y="0"/>
              <a:ext cx="21088595" cy="8822944"/>
            </a:xfrm>
            <a:custGeom>
              <a:avLst/>
              <a:gdLst/>
              <a:ahLst/>
              <a:cxnLst/>
              <a:rect l="l" t="t" r="r" b="b"/>
              <a:pathLst>
                <a:path w="21088595" h="8822944">
                  <a:moveTo>
                    <a:pt x="0" y="0"/>
                  </a:moveTo>
                  <a:lnTo>
                    <a:pt x="21088595" y="0"/>
                  </a:lnTo>
                  <a:lnTo>
                    <a:pt x="21088595" y="8822944"/>
                  </a:lnTo>
                  <a:lnTo>
                    <a:pt x="0" y="8822944"/>
                  </a:lnTo>
                  <a:close/>
                </a:path>
              </a:pathLst>
            </a:custGeom>
            <a:solidFill>
              <a:srgbClr val="000000">
                <a:alpha val="0"/>
              </a:srgbClr>
            </a:solidFill>
          </p:spPr>
          <p:txBody>
            <a:bodyPr/>
            <a:lstStyle/>
            <a:p>
              <a:endParaRPr lang="en-IN" dirty="0"/>
            </a:p>
          </p:txBody>
        </p:sp>
        <p:sp>
          <p:nvSpPr>
            <p:cNvPr id="7" name="TextBox 7">
              <a:extLst>
                <a:ext uri="{FF2B5EF4-FFF2-40B4-BE49-F238E27FC236}">
                  <a16:creationId xmlns:a16="http://schemas.microsoft.com/office/drawing/2014/main" id="{B86372A4-A313-8D8D-1108-130F6C7304EE}"/>
                </a:ext>
              </a:extLst>
            </p:cNvPr>
            <p:cNvSpPr txBox="1"/>
            <p:nvPr/>
          </p:nvSpPr>
          <p:spPr>
            <a:xfrm>
              <a:off x="0" y="-47625"/>
              <a:ext cx="21088595" cy="8870569"/>
            </a:xfrm>
            <a:prstGeom prst="rect">
              <a:avLst/>
            </a:prstGeom>
          </p:spPr>
          <p:txBody>
            <a:bodyPr lIns="0" tIns="0" rIns="0" bIns="0" rtlCol="0" anchor="ctr"/>
            <a:lstStyle/>
            <a:p>
              <a:pPr marL="289560" lvl="1" indent="-144780" algn="l">
                <a:lnSpc>
                  <a:spcPts val="2879"/>
                </a:lnSpc>
              </a:pPr>
              <a:endParaRPr lang="en-US" sz="2400" dirty="0">
                <a:solidFill>
                  <a:srgbClr val="000000"/>
                </a:solidFill>
                <a:latin typeface="Times New Roman"/>
                <a:ea typeface="Times New Roman"/>
                <a:cs typeface="Times New Roman"/>
                <a:sym typeface="Times New Roman"/>
              </a:endParaRPr>
            </a:p>
          </p:txBody>
        </p:sp>
      </p:grpSp>
      <p:sp>
        <p:nvSpPr>
          <p:cNvPr id="9" name="Rectangle 2">
            <a:extLst>
              <a:ext uri="{FF2B5EF4-FFF2-40B4-BE49-F238E27FC236}">
                <a16:creationId xmlns:a16="http://schemas.microsoft.com/office/drawing/2014/main" id="{FBADD76A-33A1-64D8-F6B6-D5A7ABA8989E}"/>
              </a:ext>
            </a:extLst>
          </p:cNvPr>
          <p:cNvSpPr>
            <a:spLocks noChangeArrowheads="1"/>
          </p:cNvSpPr>
          <p:nvPr/>
        </p:nvSpPr>
        <p:spPr bwMode="auto">
          <a:xfrm rot="10800000" flipV="1">
            <a:off x="1600200" y="2146748"/>
            <a:ext cx="161544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Merged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UNOS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regional transplant registry datasets to improve diversity and model robustness across different healthcare systems.</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learning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Gradient Boosting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pretrained on comprehensive transplant datasets for enhanced outcome prediction.</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800" dirty="0">
                <a:latin typeface="Times New Roman" panose="02020603050405020304" pitchFamily="18" charset="0"/>
                <a:cs typeface="Times New Roman" panose="02020603050405020304" pitchFamily="18" charset="0"/>
              </a:rPr>
              <a:t>Applied </a:t>
            </a:r>
            <a:r>
              <a:rPr lang="en-US" sz="2800" b="1" dirty="0">
                <a:latin typeface="Times New Roman" panose="02020603050405020304" pitchFamily="18" charset="0"/>
                <a:cs typeface="Times New Roman" panose="02020603050405020304" pitchFamily="18" charset="0"/>
              </a:rPr>
              <a:t>diverse machine learning algorithms </a:t>
            </a:r>
            <a:r>
              <a:rPr lang="en-US" sz="2800" dirty="0">
                <a:latin typeface="Times New Roman" panose="02020603050405020304" pitchFamily="18" charset="0"/>
                <a:cs typeface="Times New Roman" panose="02020603050405020304" pitchFamily="18" charset="0"/>
              </a:rPr>
              <a:t>to enhance donor-recipient compatibility.</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Achieved superior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AUC</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values with reliable multi-organ prediction performance across heart, lung, kidney, and liver transplants.</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allocation system with automated alerts for urgent transplant decision-making 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outcome monitoring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9152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44452" y="122780"/>
            <a:ext cx="14719548" cy="973793"/>
          </a:xfrm>
          <a:prstGeom prst="rect">
            <a:avLst/>
          </a:prstGeom>
        </p:spPr>
        <p:txBody>
          <a:bodyPr lIns="0" tIns="0" rIns="0" bIns="0" rtlCol="0" anchor="t">
            <a:spAutoFit/>
          </a:bodyPr>
          <a:lstStyle/>
          <a:p>
            <a:pPr algn="ctr">
              <a:lnSpc>
                <a:spcPts val="9000"/>
              </a:lnSpc>
            </a:pPr>
            <a:r>
              <a:rPr lang="en-US" sz="3600" b="1" dirty="0">
                <a:solidFill>
                  <a:srgbClr val="000000"/>
                </a:solidFill>
                <a:latin typeface="Times New Roman Bold"/>
                <a:ea typeface="Times New Roman Bold"/>
                <a:cs typeface="Times New Roman Bold"/>
                <a:sym typeface="Times New Roman Bold"/>
              </a:rPr>
              <a:t>TOOLS AND TECHNOLIGES ARE TO  USED</a:t>
            </a:r>
          </a:p>
        </p:txBody>
      </p:sp>
      <p:grpSp>
        <p:nvGrpSpPr>
          <p:cNvPr id="3" name="Group 3"/>
          <p:cNvGrpSpPr/>
          <p:nvPr/>
        </p:nvGrpSpPr>
        <p:grpSpPr>
          <a:xfrm>
            <a:off x="5622725" y="2254469"/>
            <a:ext cx="6906691" cy="6264922"/>
            <a:chOff x="0" y="0"/>
            <a:chExt cx="9208921" cy="8353229"/>
          </a:xfrm>
        </p:grpSpPr>
        <p:sp>
          <p:nvSpPr>
            <p:cNvPr id="4" name="Freeform 4"/>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p:cNvGrpSpPr/>
          <p:nvPr/>
        </p:nvGrpSpPr>
        <p:grpSpPr>
          <a:xfrm>
            <a:off x="3276600" y="1409700"/>
            <a:ext cx="15240000" cy="8586966"/>
            <a:chOff x="0" y="0"/>
            <a:chExt cx="20320000" cy="11449288"/>
          </a:xfrm>
        </p:grpSpPr>
        <p:sp>
          <p:nvSpPr>
            <p:cNvPr id="6" name="Freeform 6"/>
            <p:cNvSpPr/>
            <p:nvPr/>
          </p:nvSpPr>
          <p:spPr>
            <a:xfrm>
              <a:off x="0" y="0"/>
              <a:ext cx="20320000" cy="11449288"/>
            </a:xfrm>
            <a:custGeom>
              <a:avLst/>
              <a:gdLst/>
              <a:ahLst/>
              <a:cxnLst/>
              <a:rect l="l" t="t" r="r" b="b"/>
              <a:pathLst>
                <a:path w="20320000" h="11449288">
                  <a:moveTo>
                    <a:pt x="0" y="0"/>
                  </a:moveTo>
                  <a:lnTo>
                    <a:pt x="20320000" y="0"/>
                  </a:lnTo>
                  <a:lnTo>
                    <a:pt x="20320000" y="11449288"/>
                  </a:lnTo>
                  <a:lnTo>
                    <a:pt x="0" y="11449288"/>
                  </a:lnTo>
                  <a:close/>
                </a:path>
              </a:pathLst>
            </a:custGeom>
            <a:solidFill>
              <a:srgbClr val="000000">
                <a:alpha val="0"/>
              </a:srgbClr>
            </a:solidFill>
          </p:spPr>
          <p:txBody>
            <a:bodyPr/>
            <a:lstStyle/>
            <a:p>
              <a:endParaRPr lang="en-US" dirty="0"/>
            </a:p>
          </p:txBody>
        </p:sp>
        <p:sp>
          <p:nvSpPr>
            <p:cNvPr id="7" name="TextBox 7"/>
            <p:cNvSpPr txBox="1"/>
            <p:nvPr/>
          </p:nvSpPr>
          <p:spPr>
            <a:xfrm>
              <a:off x="0" y="-47625"/>
              <a:ext cx="20320000" cy="11496913"/>
            </a:xfrm>
            <a:prstGeom prst="rect">
              <a:avLst/>
            </a:prstGeom>
          </p:spPr>
          <p:txBody>
            <a:bodyPr lIns="0" tIns="0" rIns="0" bIns="0" rtlCol="0" anchor="ctr"/>
            <a:lstStyle/>
            <a:p>
              <a:pPr marL="289560" lvl="1" indent="-144780" algn="l">
                <a:lnSpc>
                  <a:spcPts val="2879"/>
                </a:lnSpc>
                <a:buFont typeface="Arial"/>
                <a:buChar char="•"/>
              </a:pPr>
              <a:endParaRPr lang="en-US" sz="2400" dirty="0">
                <a:solidFill>
                  <a:srgbClr val="000000"/>
                </a:solidFill>
                <a:latin typeface="Times New Roman"/>
                <a:ea typeface="Times New Roman"/>
                <a:cs typeface="Times New Roman"/>
                <a:sym typeface="Times New Roman"/>
              </a:endParaRPr>
            </a:p>
          </p:txBody>
        </p:sp>
      </p:grpSp>
      <p:sp>
        <p:nvSpPr>
          <p:cNvPr id="8" name="Rectangle 1">
            <a:extLst>
              <a:ext uri="{FF2B5EF4-FFF2-40B4-BE49-F238E27FC236}">
                <a16:creationId xmlns:a16="http://schemas.microsoft.com/office/drawing/2014/main" id="{95A9D136-04AF-7270-8D8D-B5E72D9E541B}"/>
              </a:ext>
            </a:extLst>
          </p:cNvPr>
          <p:cNvSpPr>
            <a:spLocks noChangeArrowheads="1"/>
          </p:cNvSpPr>
          <p:nvPr/>
        </p:nvSpPr>
        <p:spPr bwMode="auto">
          <a:xfrm>
            <a:off x="1319349" y="1235072"/>
            <a:ext cx="15468600" cy="8710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3.11/3.12: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high-level, versatile programming language used for developing machine learning models and data analysis scripts</a:t>
            </a:r>
            <a:r>
              <a:rPr lang="en-US" altLang="en-US" sz="2800" b="1" dirty="0">
                <a:latin typeface="Times New Roman" panose="02020603050405020304" pitchFamily="18" charset="0"/>
                <a:cs typeface="Times New Roman" panose="02020603050405020304" pitchFamily="18" charset="0"/>
              </a:rPr>
              <a:t>.</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Multi-algorithm ensemble (SVM, Gradient Boosting): </a:t>
            </a:r>
            <a:r>
              <a:rPr lang="en-US" sz="2800" dirty="0">
                <a:latin typeface="Times New Roman" panose="02020603050405020304" pitchFamily="18" charset="0"/>
                <a:cs typeface="Times New Roman" panose="02020603050405020304" pitchFamily="18" charset="0"/>
              </a:rPr>
              <a:t>A technique that combines predictions from multiple individual machine learning models to improve overall accuracy and robustness.</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&amp; Gradient Boosting: </a:t>
            </a:r>
            <a:r>
              <a:rPr lang="en-US" sz="2800" dirty="0">
                <a:latin typeface="Times New Roman" panose="02020603050405020304" pitchFamily="18" charset="0"/>
                <a:cs typeface="Times New Roman" panose="02020603050405020304" pitchFamily="18" charset="0"/>
              </a:rPr>
              <a:t>Powerful ensemble machine learning algorithms that build multiple decision trees to make highly accurate predictions, often used for classification and regression tasks.</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 NumPy, Matplotlib, Seaborn: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Core</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libraries that are used to handle arrays, datasets and visualize the datasets to get clear insights.</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lang="en-US" sz="2800" b="1" i="0" dirty="0">
                <a:effectLst/>
                <a:latin typeface="Times New Roman" panose="02020603050405020304" pitchFamily="18" charset="0"/>
                <a:cs typeface="Times New Roman" panose="02020603050405020304" pitchFamily="18" charset="0"/>
              </a:rPr>
              <a:t>UNOS/Registry APIs for data handling: </a:t>
            </a:r>
            <a:r>
              <a:rPr lang="en-US" sz="2800" dirty="0">
                <a:latin typeface="Times New Roman" panose="02020603050405020304" pitchFamily="18" charset="0"/>
                <a:cs typeface="Times New Roman" panose="02020603050405020304" pitchFamily="18" charset="0"/>
              </a:rPr>
              <a:t>Application Programming Interfaces (APIs) provided by organizations like UNOS (United Network for Organ Sharing) or similar registries, used to programmatically access and manage organ donation and transplant data</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Jupyter Notebook / V.S Code / Colab Notebook: </a:t>
            </a:r>
            <a:r>
              <a:rPr lang="en-US" sz="2800" dirty="0"/>
              <a:t>Integrated development environments (IDEs) or web-based platforms that provide interactive computing environments for writing, running, and sharing Python code.</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FB83E-0708-93FA-4CF8-ACDE3AF5715D}"/>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2EE2616-9429-DDEB-5A76-55C609252220}"/>
              </a:ext>
            </a:extLst>
          </p:cNvPr>
          <p:cNvSpPr txBox="1"/>
          <p:nvPr/>
        </p:nvSpPr>
        <p:spPr>
          <a:xfrm>
            <a:off x="2044452" y="122780"/>
            <a:ext cx="14719548" cy="973793"/>
          </a:xfrm>
          <a:prstGeom prst="rect">
            <a:avLst/>
          </a:prstGeom>
        </p:spPr>
        <p:txBody>
          <a:bodyPr lIns="0" tIns="0" rIns="0" bIns="0" rtlCol="0" anchor="t">
            <a:spAutoFit/>
          </a:bodyPr>
          <a:lstStyle/>
          <a:p>
            <a:pPr algn="ctr">
              <a:lnSpc>
                <a:spcPts val="9000"/>
              </a:lnSpc>
            </a:pPr>
            <a:r>
              <a:rPr lang="en-US" sz="3600" b="1" dirty="0">
                <a:solidFill>
                  <a:srgbClr val="000000"/>
                </a:solidFill>
                <a:latin typeface="Times New Roman Bold"/>
                <a:ea typeface="Times New Roman Bold"/>
                <a:cs typeface="Times New Roman Bold"/>
                <a:sym typeface="Times New Roman Bold"/>
              </a:rPr>
              <a:t>SYSTEM REQUIREMENTS</a:t>
            </a:r>
          </a:p>
        </p:txBody>
      </p:sp>
      <p:grpSp>
        <p:nvGrpSpPr>
          <p:cNvPr id="3" name="Group 3">
            <a:extLst>
              <a:ext uri="{FF2B5EF4-FFF2-40B4-BE49-F238E27FC236}">
                <a16:creationId xmlns:a16="http://schemas.microsoft.com/office/drawing/2014/main" id="{354F418B-388B-45CE-AB76-A986D7FE6681}"/>
              </a:ext>
            </a:extLst>
          </p:cNvPr>
          <p:cNvGrpSpPr/>
          <p:nvPr/>
        </p:nvGrpSpPr>
        <p:grpSpPr>
          <a:xfrm>
            <a:off x="5622725" y="2254469"/>
            <a:ext cx="6906691" cy="6264922"/>
            <a:chOff x="0" y="0"/>
            <a:chExt cx="9208921" cy="8353229"/>
          </a:xfrm>
        </p:grpSpPr>
        <p:sp>
          <p:nvSpPr>
            <p:cNvPr id="4" name="Freeform 4">
              <a:extLst>
                <a:ext uri="{FF2B5EF4-FFF2-40B4-BE49-F238E27FC236}">
                  <a16:creationId xmlns:a16="http://schemas.microsoft.com/office/drawing/2014/main" id="{A943F532-42A5-A8AC-9D60-00CE8DD4A1B1}"/>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a:extLst>
              <a:ext uri="{FF2B5EF4-FFF2-40B4-BE49-F238E27FC236}">
                <a16:creationId xmlns:a16="http://schemas.microsoft.com/office/drawing/2014/main" id="{502C4D27-0A73-1138-806B-7594386946C7}"/>
              </a:ext>
            </a:extLst>
          </p:cNvPr>
          <p:cNvGrpSpPr/>
          <p:nvPr/>
        </p:nvGrpSpPr>
        <p:grpSpPr>
          <a:xfrm>
            <a:off x="2364875" y="1273341"/>
            <a:ext cx="15240000" cy="8586966"/>
            <a:chOff x="0" y="0"/>
            <a:chExt cx="20320000" cy="11449288"/>
          </a:xfrm>
        </p:grpSpPr>
        <p:sp>
          <p:nvSpPr>
            <p:cNvPr id="6" name="Freeform 6">
              <a:extLst>
                <a:ext uri="{FF2B5EF4-FFF2-40B4-BE49-F238E27FC236}">
                  <a16:creationId xmlns:a16="http://schemas.microsoft.com/office/drawing/2014/main" id="{28A0295A-0739-0369-C756-CC113C690B99}"/>
                </a:ext>
              </a:extLst>
            </p:cNvPr>
            <p:cNvSpPr/>
            <p:nvPr/>
          </p:nvSpPr>
          <p:spPr>
            <a:xfrm>
              <a:off x="0" y="0"/>
              <a:ext cx="20320000" cy="11449288"/>
            </a:xfrm>
            <a:custGeom>
              <a:avLst/>
              <a:gdLst/>
              <a:ahLst/>
              <a:cxnLst/>
              <a:rect l="l" t="t" r="r" b="b"/>
              <a:pathLst>
                <a:path w="20320000" h="11449288">
                  <a:moveTo>
                    <a:pt x="0" y="0"/>
                  </a:moveTo>
                  <a:lnTo>
                    <a:pt x="20320000" y="0"/>
                  </a:lnTo>
                  <a:lnTo>
                    <a:pt x="20320000" y="11449288"/>
                  </a:lnTo>
                  <a:lnTo>
                    <a:pt x="0" y="11449288"/>
                  </a:lnTo>
                  <a:close/>
                </a:path>
              </a:pathLst>
            </a:custGeom>
            <a:solidFill>
              <a:srgbClr val="000000">
                <a:alpha val="0"/>
              </a:srgbClr>
            </a:solidFill>
          </p:spPr>
        </p:sp>
        <p:sp>
          <p:nvSpPr>
            <p:cNvPr id="7" name="TextBox 7">
              <a:extLst>
                <a:ext uri="{FF2B5EF4-FFF2-40B4-BE49-F238E27FC236}">
                  <a16:creationId xmlns:a16="http://schemas.microsoft.com/office/drawing/2014/main" id="{0A6BD1BC-06E5-CBA4-BABC-9E1A81416453}"/>
                </a:ext>
              </a:extLst>
            </p:cNvPr>
            <p:cNvSpPr txBox="1"/>
            <p:nvPr/>
          </p:nvSpPr>
          <p:spPr>
            <a:xfrm>
              <a:off x="0" y="-47625"/>
              <a:ext cx="20320000" cy="11496913"/>
            </a:xfrm>
            <a:prstGeom prst="rect">
              <a:avLst/>
            </a:prstGeom>
          </p:spPr>
          <p:txBody>
            <a:bodyPr lIns="0" tIns="0" rIns="0" bIns="0" rtlCol="0" anchor="ctr"/>
            <a:lstStyle/>
            <a:p>
              <a:pPr marL="289560" lvl="1" indent="-144780" algn="l">
                <a:lnSpc>
                  <a:spcPts val="2879"/>
                </a:lnSpc>
                <a:buFont typeface="Arial"/>
                <a:buChar char="•"/>
              </a:pPr>
              <a:endParaRPr lang="en-US" sz="2400" dirty="0">
                <a:solidFill>
                  <a:srgbClr val="000000"/>
                </a:solidFill>
                <a:latin typeface="Times New Roman"/>
                <a:ea typeface="Times New Roman"/>
                <a:cs typeface="Times New Roman"/>
                <a:sym typeface="Times New Roman"/>
              </a:endParaRPr>
            </a:p>
          </p:txBody>
        </p:sp>
      </p:grpSp>
      <p:sp>
        <p:nvSpPr>
          <p:cNvPr id="8" name="Rectangle 1">
            <a:extLst>
              <a:ext uri="{FF2B5EF4-FFF2-40B4-BE49-F238E27FC236}">
                <a16:creationId xmlns:a16="http://schemas.microsoft.com/office/drawing/2014/main" id="{5179E7AC-AA0E-353C-5090-36E3A3176A63}"/>
              </a:ext>
            </a:extLst>
          </p:cNvPr>
          <p:cNvSpPr>
            <a:spLocks noChangeArrowheads="1"/>
          </p:cNvSpPr>
          <p:nvPr/>
        </p:nvSpPr>
        <p:spPr bwMode="auto">
          <a:xfrm>
            <a:off x="3379339" y="3399579"/>
            <a:ext cx="3737204"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dirty="0">
                <a:latin typeface="Times New Roman" panose="02020603050405020304" pitchFamily="18" charset="0"/>
                <a:cs typeface="Times New Roman" panose="02020603050405020304" pitchFamily="18" charset="0"/>
              </a:rPr>
              <a:t>Software</a:t>
            </a:r>
            <a:endParaRPr lang="en-IN" sz="2800" dirty="0">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57865E9-5743-4624-9A80-E6C819BA9394}"/>
              </a:ext>
            </a:extLst>
          </p:cNvPr>
          <p:cNvSpPr txBox="1"/>
          <p:nvPr/>
        </p:nvSpPr>
        <p:spPr>
          <a:xfrm>
            <a:off x="11808325" y="4288155"/>
            <a:ext cx="5440415" cy="2677656"/>
          </a:xfrm>
          <a:prstGeom prst="rect">
            <a:avLst/>
          </a:prstGeom>
          <a:noFill/>
        </p:spPr>
        <p:txBody>
          <a:bodyPr wrap="square">
            <a:spAutoFit/>
          </a:bodyPr>
          <a:lstStyle/>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OS: Windows 10/11</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RAM: 8 GB or more</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Processor: Intel Core i5/i7</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GPU: NVIDIA recommended (optional)</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Storage : 256 GB SSD</a:t>
            </a:r>
          </a:p>
        </p:txBody>
      </p:sp>
      <p:sp>
        <p:nvSpPr>
          <p:cNvPr id="13" name="Rectangle 12">
            <a:extLst>
              <a:ext uri="{FF2B5EF4-FFF2-40B4-BE49-F238E27FC236}">
                <a16:creationId xmlns:a16="http://schemas.microsoft.com/office/drawing/2014/main" id="{770D43E4-BD11-4B73-8AD3-982008F50B81}"/>
              </a:ext>
            </a:extLst>
          </p:cNvPr>
          <p:cNvSpPr/>
          <p:nvPr/>
        </p:nvSpPr>
        <p:spPr>
          <a:xfrm>
            <a:off x="2364875" y="3399579"/>
            <a:ext cx="4512161" cy="42585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B3C8F00-4A0B-4102-B0FD-6991B8B329EA}"/>
              </a:ext>
            </a:extLst>
          </p:cNvPr>
          <p:cNvSpPr txBox="1"/>
          <p:nvPr/>
        </p:nvSpPr>
        <p:spPr>
          <a:xfrm>
            <a:off x="1955088" y="4118671"/>
            <a:ext cx="4868296" cy="3539430"/>
          </a:xfrm>
          <a:prstGeom prst="rect">
            <a:avLst/>
          </a:prstGeom>
          <a:noFill/>
        </p:spPr>
        <p:txBody>
          <a:bodyPr wrap="square">
            <a:spAutoFit/>
          </a:bodyPr>
          <a:lstStyle/>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Python</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Colab / Jupyter Notebook</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Pandas</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Numpy</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Seaborn</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SCIKIT Learn</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Streamlit</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MySQL</a:t>
            </a:r>
          </a:p>
        </p:txBody>
      </p:sp>
      <p:sp>
        <p:nvSpPr>
          <p:cNvPr id="17" name="Rectangle 16">
            <a:extLst>
              <a:ext uri="{FF2B5EF4-FFF2-40B4-BE49-F238E27FC236}">
                <a16:creationId xmlns:a16="http://schemas.microsoft.com/office/drawing/2014/main" id="{12BA90B4-D30E-4EE6-A9AE-730B6D23735F}"/>
              </a:ext>
            </a:extLst>
          </p:cNvPr>
          <p:cNvSpPr/>
          <p:nvPr/>
        </p:nvSpPr>
        <p:spPr>
          <a:xfrm>
            <a:off x="11898861" y="3257647"/>
            <a:ext cx="5440416" cy="42585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49AB1B7-F572-4054-BD9A-B86DFF9CBE50}"/>
              </a:ext>
            </a:extLst>
          </p:cNvPr>
          <p:cNvSpPr txBox="1"/>
          <p:nvPr/>
        </p:nvSpPr>
        <p:spPr>
          <a:xfrm>
            <a:off x="12699732" y="3345718"/>
            <a:ext cx="365760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	Hardware</a:t>
            </a:r>
            <a:endParaRPr lang="en-IN" sz="2800" dirty="0">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65A384C1-0808-49F0-AD52-A5C7B6964DB2}"/>
              </a:ext>
            </a:extLst>
          </p:cNvPr>
          <p:cNvCxnSpPr>
            <a:cxnSpLocks/>
          </p:cNvCxnSpPr>
          <p:nvPr/>
        </p:nvCxnSpPr>
        <p:spPr>
          <a:xfrm>
            <a:off x="2364876" y="4000500"/>
            <a:ext cx="45121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F7BC0B0B-EFD8-4D7C-950D-D3F0964BD70D}"/>
              </a:ext>
            </a:extLst>
          </p:cNvPr>
          <p:cNvCxnSpPr>
            <a:cxnSpLocks/>
          </p:cNvCxnSpPr>
          <p:nvPr/>
        </p:nvCxnSpPr>
        <p:spPr>
          <a:xfrm flipV="1">
            <a:off x="11898861" y="4023337"/>
            <a:ext cx="5417230" cy="1088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0975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08663-DC12-82AB-8626-6AF8977DE057}"/>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3DA15BA-3888-0C8C-95C4-48148BD5780B}"/>
              </a:ext>
            </a:extLst>
          </p:cNvPr>
          <p:cNvSpPr txBox="1"/>
          <p:nvPr/>
        </p:nvSpPr>
        <p:spPr>
          <a:xfrm>
            <a:off x="2044452" y="122780"/>
            <a:ext cx="14719548" cy="984565"/>
          </a:xfrm>
          <a:prstGeom prst="rect">
            <a:avLst/>
          </a:prstGeom>
        </p:spPr>
        <p:txBody>
          <a:bodyPr lIns="0" tIns="0" rIns="0" bIns="0" rtlCol="0" anchor="t">
            <a:spAutoFit/>
          </a:bodyPr>
          <a:lstStyle/>
          <a:p>
            <a:pPr algn="ctr">
              <a:lnSpc>
                <a:spcPts val="9000"/>
              </a:lnSpc>
            </a:pPr>
            <a:r>
              <a:rPr lang="en-IN" sz="3600" b="1" dirty="0">
                <a:latin typeface="Times New Roman" panose="02020603050405020304" pitchFamily="18" charset="0"/>
                <a:cs typeface="Times New Roman" panose="02020603050405020304" pitchFamily="18" charset="0"/>
              </a:rPr>
              <a:t>PERCENTAGE OF COMPLETION</a:t>
            </a:r>
            <a:endParaRPr lang="en-US" sz="3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grpSp>
        <p:nvGrpSpPr>
          <p:cNvPr id="3" name="Group 3">
            <a:extLst>
              <a:ext uri="{FF2B5EF4-FFF2-40B4-BE49-F238E27FC236}">
                <a16:creationId xmlns:a16="http://schemas.microsoft.com/office/drawing/2014/main" id="{63407994-D7C1-F556-AAE0-D67A5A15C16C}"/>
              </a:ext>
            </a:extLst>
          </p:cNvPr>
          <p:cNvGrpSpPr/>
          <p:nvPr/>
        </p:nvGrpSpPr>
        <p:grpSpPr>
          <a:xfrm>
            <a:off x="5622725" y="2254469"/>
            <a:ext cx="6906691" cy="6264922"/>
            <a:chOff x="0" y="0"/>
            <a:chExt cx="9208921" cy="8353229"/>
          </a:xfrm>
        </p:grpSpPr>
        <p:sp>
          <p:nvSpPr>
            <p:cNvPr id="4" name="Freeform 4">
              <a:extLst>
                <a:ext uri="{FF2B5EF4-FFF2-40B4-BE49-F238E27FC236}">
                  <a16:creationId xmlns:a16="http://schemas.microsoft.com/office/drawing/2014/main" id="{439C0526-086B-EAC0-18FC-6D6F9D234F19}"/>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a:extLst>
              <a:ext uri="{FF2B5EF4-FFF2-40B4-BE49-F238E27FC236}">
                <a16:creationId xmlns:a16="http://schemas.microsoft.com/office/drawing/2014/main" id="{55B29380-F59A-3DCA-A41F-9E50F1772B75}"/>
              </a:ext>
            </a:extLst>
          </p:cNvPr>
          <p:cNvGrpSpPr/>
          <p:nvPr/>
        </p:nvGrpSpPr>
        <p:grpSpPr>
          <a:xfrm>
            <a:off x="1784226" y="952500"/>
            <a:ext cx="15240000" cy="8586966"/>
            <a:chOff x="0" y="0"/>
            <a:chExt cx="20320000" cy="11449288"/>
          </a:xfrm>
        </p:grpSpPr>
        <p:sp>
          <p:nvSpPr>
            <p:cNvPr id="6" name="Freeform 6">
              <a:extLst>
                <a:ext uri="{FF2B5EF4-FFF2-40B4-BE49-F238E27FC236}">
                  <a16:creationId xmlns:a16="http://schemas.microsoft.com/office/drawing/2014/main" id="{418790EF-30F5-7494-9212-76D42FE362F3}"/>
                </a:ext>
              </a:extLst>
            </p:cNvPr>
            <p:cNvSpPr/>
            <p:nvPr/>
          </p:nvSpPr>
          <p:spPr>
            <a:xfrm>
              <a:off x="0" y="0"/>
              <a:ext cx="20320000" cy="11449288"/>
            </a:xfrm>
            <a:custGeom>
              <a:avLst/>
              <a:gdLst/>
              <a:ahLst/>
              <a:cxnLst/>
              <a:rect l="l" t="t" r="r" b="b"/>
              <a:pathLst>
                <a:path w="20320000" h="11449288">
                  <a:moveTo>
                    <a:pt x="0" y="0"/>
                  </a:moveTo>
                  <a:lnTo>
                    <a:pt x="20320000" y="0"/>
                  </a:lnTo>
                  <a:lnTo>
                    <a:pt x="20320000" y="11449288"/>
                  </a:lnTo>
                  <a:lnTo>
                    <a:pt x="0" y="11449288"/>
                  </a:lnTo>
                  <a:close/>
                </a:path>
              </a:pathLst>
            </a:custGeom>
            <a:solidFill>
              <a:srgbClr val="000000">
                <a:alpha val="0"/>
              </a:srgbClr>
            </a:solidFill>
          </p:spPr>
        </p:sp>
        <p:sp>
          <p:nvSpPr>
            <p:cNvPr id="7" name="TextBox 7">
              <a:extLst>
                <a:ext uri="{FF2B5EF4-FFF2-40B4-BE49-F238E27FC236}">
                  <a16:creationId xmlns:a16="http://schemas.microsoft.com/office/drawing/2014/main" id="{E9318D5F-C96B-52D5-ABC6-30C9D2623273}"/>
                </a:ext>
              </a:extLst>
            </p:cNvPr>
            <p:cNvSpPr txBox="1"/>
            <p:nvPr/>
          </p:nvSpPr>
          <p:spPr>
            <a:xfrm>
              <a:off x="0" y="-47625"/>
              <a:ext cx="20320000" cy="11496913"/>
            </a:xfrm>
            <a:prstGeom prst="rect">
              <a:avLst/>
            </a:prstGeom>
          </p:spPr>
          <p:txBody>
            <a:bodyPr lIns="0" tIns="0" rIns="0" bIns="0" rtlCol="0" anchor="ctr"/>
            <a:lstStyle/>
            <a:p>
              <a:pPr marL="289560" lvl="1" indent="-144780" algn="l">
                <a:lnSpc>
                  <a:spcPts val="2879"/>
                </a:lnSpc>
                <a:buFont typeface="Arial"/>
                <a:buChar char="•"/>
              </a:pPr>
              <a:endParaRPr lang="en-US" sz="2400" dirty="0">
                <a:solidFill>
                  <a:srgbClr val="000000"/>
                </a:solidFill>
                <a:latin typeface="Times New Roman"/>
                <a:ea typeface="Times New Roman"/>
                <a:cs typeface="Times New Roman"/>
                <a:sym typeface="Times New Roman"/>
              </a:endParaRPr>
            </a:p>
          </p:txBody>
        </p:sp>
      </p:grpSp>
      <p:sp>
        <p:nvSpPr>
          <p:cNvPr id="8" name="Rectangle 1">
            <a:extLst>
              <a:ext uri="{FF2B5EF4-FFF2-40B4-BE49-F238E27FC236}">
                <a16:creationId xmlns:a16="http://schemas.microsoft.com/office/drawing/2014/main" id="{9BB0C99A-0D27-EDB9-B0EE-510D4457B042}"/>
              </a:ext>
            </a:extLst>
          </p:cNvPr>
          <p:cNvSpPr>
            <a:spLocks noChangeArrowheads="1"/>
          </p:cNvSpPr>
          <p:nvPr/>
        </p:nvSpPr>
        <p:spPr bwMode="auto">
          <a:xfrm>
            <a:off x="2438400" y="2050345"/>
            <a:ext cx="6192657"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3000" b="1" dirty="0">
                <a:latin typeface="Times New Roman" panose="02020603050405020304" pitchFamily="18" charset="0"/>
                <a:cs typeface="Times New Roman" panose="02020603050405020304" pitchFamily="18" charset="0"/>
              </a:rPr>
              <a:t>COMPLETED:</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Abstract</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Literature Survey</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Dataset Collection </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Preprocessing &amp; Merging </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Organ Matching Prediction Models</a:t>
            </a:r>
          </a:p>
          <a:p>
            <a:pPr lvl="1"/>
            <a:endParaRPr lang="en-IN" sz="2800" dirty="0">
              <a:latin typeface="Times New Roman" panose="02020603050405020304" pitchFamily="18" charset="0"/>
              <a:cs typeface="Times New Roman" panose="02020603050405020304" pitchFamily="18" charset="0"/>
            </a:endParaRPr>
          </a:p>
          <a:p>
            <a:r>
              <a:rPr lang="en-IN" sz="3000" b="1" dirty="0">
                <a:latin typeface="Times New Roman" panose="02020603050405020304" pitchFamily="18" charset="0"/>
                <a:cs typeface="Times New Roman" panose="02020603050405020304" pitchFamily="18" charset="0"/>
              </a:rPr>
              <a:t>NEXT STEPS:</a:t>
            </a:r>
            <a:endParaRPr lang="en-IN"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Evaluation &amp; Tuning </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Front-End</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Back-End</a:t>
            </a:r>
          </a:p>
          <a:p>
            <a:pPr marL="914400" lvl="1" indent="-457200">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 Report Documentation </a:t>
            </a:r>
          </a:p>
          <a:p>
            <a:pPr marL="914400" lvl="1" indent="-457200">
              <a:buFont typeface="Wingdings" panose="05000000000000000000" pitchFamily="2" charset="2"/>
              <a:buChar char="§"/>
            </a:pPr>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Completion: 50%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385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E1D68-25F4-C638-7B80-1C2BE85F0C0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51D83E-76A3-208F-2F32-5B6C68E83FAE}"/>
              </a:ext>
            </a:extLst>
          </p:cNvPr>
          <p:cNvGrpSpPr/>
          <p:nvPr/>
        </p:nvGrpSpPr>
        <p:grpSpPr>
          <a:xfrm>
            <a:off x="5613199" y="2247900"/>
            <a:ext cx="6906691" cy="6264922"/>
            <a:chOff x="0" y="0"/>
            <a:chExt cx="9208921" cy="8353229"/>
          </a:xfrm>
        </p:grpSpPr>
        <p:sp>
          <p:nvSpPr>
            <p:cNvPr id="3" name="Freeform 3">
              <a:extLst>
                <a:ext uri="{FF2B5EF4-FFF2-40B4-BE49-F238E27FC236}">
                  <a16:creationId xmlns:a16="http://schemas.microsoft.com/office/drawing/2014/main" id="{25225C59-F25B-D2CB-1473-50E006D41496}"/>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3">
                <a:alphaModFix amt="30000"/>
              </a:blip>
              <a:stretch>
                <a:fillRect t="-5121" b="-5122"/>
              </a:stretch>
            </a:blipFill>
          </p:spPr>
        </p:sp>
      </p:grpSp>
      <p:sp>
        <p:nvSpPr>
          <p:cNvPr id="4" name="TextBox 4">
            <a:extLst>
              <a:ext uri="{FF2B5EF4-FFF2-40B4-BE49-F238E27FC236}">
                <a16:creationId xmlns:a16="http://schemas.microsoft.com/office/drawing/2014/main" id="{C6AE2072-8F03-6B89-F346-A6B233B51465}"/>
              </a:ext>
            </a:extLst>
          </p:cNvPr>
          <p:cNvSpPr txBox="1"/>
          <p:nvPr/>
        </p:nvSpPr>
        <p:spPr>
          <a:xfrm>
            <a:off x="6015048" y="381699"/>
            <a:ext cx="6102995" cy="984565"/>
          </a:xfrm>
          <a:prstGeom prst="rect">
            <a:avLst/>
          </a:prstGeom>
        </p:spPr>
        <p:txBody>
          <a:bodyPr lIns="0" tIns="0" rIns="0" bIns="0" rtlCol="0" anchor="t">
            <a:spAutoFit/>
          </a:bodyPr>
          <a:lstStyle/>
          <a:p>
            <a:pPr algn="ctr">
              <a:lnSpc>
                <a:spcPts val="9000"/>
              </a:lnSpc>
            </a:pPr>
            <a:r>
              <a:rPr lang="en-IN" sz="3600" b="1" dirty="0">
                <a:latin typeface="Times New Roman" panose="02020603050405020304" pitchFamily="18" charset="0"/>
                <a:cs typeface="Times New Roman" panose="02020603050405020304" pitchFamily="18" charset="0"/>
              </a:rPr>
              <a:t>CONCLUSION</a:t>
            </a:r>
            <a:endParaRPr lang="en-US" sz="3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5" name="TextBox 5">
            <a:extLst>
              <a:ext uri="{FF2B5EF4-FFF2-40B4-BE49-F238E27FC236}">
                <a16:creationId xmlns:a16="http://schemas.microsoft.com/office/drawing/2014/main" id="{E225C458-D2DC-CD64-4841-55B927B51077}"/>
              </a:ext>
            </a:extLst>
          </p:cNvPr>
          <p:cNvSpPr txBox="1"/>
          <p:nvPr/>
        </p:nvSpPr>
        <p:spPr>
          <a:xfrm>
            <a:off x="1524000" y="3086100"/>
            <a:ext cx="16002000" cy="3761414"/>
          </a:xfrm>
          <a:prstGeom prst="rect">
            <a:avLst/>
          </a:prstGeom>
        </p:spPr>
        <p:txBody>
          <a:bodyPr wrap="square" lIns="0" tIns="0" rIns="0" bIns="0" rtlCol="0" anchor="t">
            <a:spAutoFit/>
          </a:bodyPr>
          <a:lstStyle/>
          <a:p>
            <a:pPr algn="just">
              <a:lnSpc>
                <a:spcPts val="3739"/>
              </a:lnSpc>
            </a:pPr>
            <a:r>
              <a:rPr lang="en-US" sz="2800" dirty="0">
                <a:latin typeface="Times New Roman" panose="02020603050405020304" pitchFamily="18" charset="0"/>
                <a:cs typeface="Times New Roman" panose="02020603050405020304" pitchFamily="18" charset="0"/>
              </a:rPr>
              <a:t>This research demonstrates a comprehensive and innovative approach to organ donor transplant prediction by merging multiple transplant registry datasets and implementing ensemble machine learning methodologies. Through the integration of real-time prediction capabilities, intelligent allocation algorithms, and sophisticated feature engineering techniques, the system delivers superior performance metrics compared to traditional points-based allocation systems. The solution addresses critical challenges in transplant medicine including prolonged recipient selection times, allocation biases, and suboptimal organ utility. Future enhancements can focus on transfer learning implementation, healthcare interoperability standards adoption, and integration with precision medicine platforms.</a:t>
            </a:r>
            <a:endPar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769479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22725" y="2254469"/>
            <a:ext cx="6906691" cy="6264922"/>
            <a:chOff x="0" y="0"/>
            <a:chExt cx="9208921" cy="8353229"/>
          </a:xfrm>
        </p:grpSpPr>
        <p:sp>
          <p:nvSpPr>
            <p:cNvPr id="4" name="Freeform 4"/>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p:cNvGrpSpPr/>
          <p:nvPr/>
        </p:nvGrpSpPr>
        <p:grpSpPr>
          <a:xfrm>
            <a:off x="809009" y="2704068"/>
            <a:ext cx="15816446" cy="6617208"/>
            <a:chOff x="0" y="0"/>
            <a:chExt cx="21088595" cy="8822944"/>
          </a:xfrm>
        </p:grpSpPr>
        <p:sp>
          <p:nvSpPr>
            <p:cNvPr id="6" name="Freeform 6"/>
            <p:cNvSpPr/>
            <p:nvPr/>
          </p:nvSpPr>
          <p:spPr>
            <a:xfrm>
              <a:off x="0" y="0"/>
              <a:ext cx="21088595" cy="8822944"/>
            </a:xfrm>
            <a:custGeom>
              <a:avLst/>
              <a:gdLst/>
              <a:ahLst/>
              <a:cxnLst/>
              <a:rect l="l" t="t" r="r" b="b"/>
              <a:pathLst>
                <a:path w="21088595" h="8822944">
                  <a:moveTo>
                    <a:pt x="0" y="0"/>
                  </a:moveTo>
                  <a:lnTo>
                    <a:pt x="21088595" y="0"/>
                  </a:lnTo>
                  <a:lnTo>
                    <a:pt x="21088595" y="8822944"/>
                  </a:lnTo>
                  <a:lnTo>
                    <a:pt x="0" y="8822944"/>
                  </a:lnTo>
                  <a:close/>
                </a:path>
              </a:pathLst>
            </a:custGeom>
            <a:solidFill>
              <a:srgbClr val="000000">
                <a:alpha val="0"/>
              </a:srgbClr>
            </a:solidFill>
          </p:spPr>
          <p:txBody>
            <a:bodyPr/>
            <a:lstStyle/>
            <a:p>
              <a:endParaRPr lang="en-IN" dirty="0"/>
            </a:p>
          </p:txBody>
        </p:sp>
        <p:sp>
          <p:nvSpPr>
            <p:cNvPr id="7" name="TextBox 7"/>
            <p:cNvSpPr txBox="1"/>
            <p:nvPr/>
          </p:nvSpPr>
          <p:spPr>
            <a:xfrm>
              <a:off x="0" y="-47625"/>
              <a:ext cx="21088595" cy="8870569"/>
            </a:xfrm>
            <a:prstGeom prst="rect">
              <a:avLst/>
            </a:prstGeom>
          </p:spPr>
          <p:txBody>
            <a:bodyPr lIns="0" tIns="0" rIns="0" bIns="0" rtlCol="0" anchor="ctr"/>
            <a:lstStyle/>
            <a:p>
              <a:pPr marL="289560" lvl="1" indent="-144780" algn="l">
                <a:lnSpc>
                  <a:spcPts val="2879"/>
                </a:lnSpc>
              </a:pPr>
              <a:endParaRPr lang="en-US" sz="2400" dirty="0">
                <a:solidFill>
                  <a:srgbClr val="000000"/>
                </a:solidFill>
                <a:latin typeface="Times New Roman"/>
                <a:ea typeface="Times New Roman"/>
                <a:cs typeface="Times New Roman"/>
                <a:sym typeface="Times New Roman"/>
              </a:endParaRPr>
            </a:p>
          </p:txBody>
        </p:sp>
      </p:grpSp>
      <p:sp>
        <p:nvSpPr>
          <p:cNvPr id="10" name="TextBox 9">
            <a:extLst>
              <a:ext uri="{FF2B5EF4-FFF2-40B4-BE49-F238E27FC236}">
                <a16:creationId xmlns:a16="http://schemas.microsoft.com/office/drawing/2014/main" id="{7ACE63FE-07B4-4671-8FC0-ACCED30E25FB}"/>
              </a:ext>
            </a:extLst>
          </p:cNvPr>
          <p:cNvSpPr txBox="1"/>
          <p:nvPr/>
        </p:nvSpPr>
        <p:spPr>
          <a:xfrm>
            <a:off x="571500" y="723900"/>
            <a:ext cx="17145000" cy="9140964"/>
          </a:xfrm>
          <a:prstGeom prst="rect">
            <a:avLst/>
          </a:prstGeom>
          <a:noFill/>
        </p:spPr>
        <p:txBody>
          <a:bodyPr wrap="square">
            <a:spAutoFit/>
          </a:bodyPr>
          <a:lstStyle/>
          <a:p>
            <a:pPr lvl="1"/>
            <a:r>
              <a:rPr lang="en-US" sz="3600" b="1" dirty="0">
                <a:latin typeface="Times New Roman" panose="02020603050405020304" pitchFamily="18" charset="0"/>
                <a:cs typeface="Times New Roman" panose="02020603050405020304" pitchFamily="18" charset="0"/>
              </a:rPr>
              <a:t>References</a:t>
            </a:r>
            <a:r>
              <a:rPr lang="en-US" sz="2400" b="1" dirty="0">
                <a:latin typeface="Times New Roman" panose="02020603050405020304" pitchFamily="18" charset="0"/>
                <a:cs typeface="Times New Roman" panose="02020603050405020304" pitchFamily="18" charset="0"/>
              </a:rPr>
              <a:t>:</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1.”</a:t>
            </a:r>
            <a:r>
              <a:rPr lang="en-US" sz="2400" b="1" i="0" dirty="0">
                <a:effectLst/>
                <a:latin typeface="Times New Roman" panose="02020603050405020304" pitchFamily="18" charset="0"/>
                <a:cs typeface="Times New Roman" panose="02020603050405020304" pitchFamily="18" charset="0"/>
              </a:rPr>
              <a:t>Advancing Kidney Transplantation: A Machine Learning Approach to Enhance Donor–Recipient Matching” , </a:t>
            </a:r>
            <a:r>
              <a:rPr lang="en-US" sz="2400" dirty="0">
                <a:latin typeface="Times New Roman" panose="02020603050405020304" pitchFamily="18" charset="0"/>
                <a:cs typeface="Times New Roman" panose="02020603050405020304" pitchFamily="18" charset="0"/>
              </a:rPr>
              <a:t>b</a:t>
            </a:r>
            <a:r>
              <a:rPr lang="en-US" sz="2400" b="0" i="0" dirty="0">
                <a:effectLst/>
                <a:latin typeface="Times New Roman" panose="02020603050405020304" pitchFamily="18" charset="0"/>
                <a:cs typeface="Times New Roman" panose="02020603050405020304" pitchFamily="18" charset="0"/>
              </a:rPr>
              <a:t>y Nahed Alowidi, Razan Ali, Munera Sadaqah, and </a:t>
            </a:r>
            <a:r>
              <a:rPr lang="en-US" sz="2400" b="0" i="0" dirty="0" err="1">
                <a:effectLst/>
                <a:latin typeface="Times New Roman" panose="02020603050405020304" pitchFamily="18" charset="0"/>
                <a:cs typeface="Times New Roman" panose="02020603050405020304" pitchFamily="18" charset="0"/>
              </a:rPr>
              <a:t>Fatmah</a:t>
            </a:r>
            <a:r>
              <a:rPr lang="en-US" sz="2400" b="0" i="0" dirty="0">
                <a:effectLst/>
                <a:latin typeface="Times New Roman" panose="02020603050405020304" pitchFamily="18" charset="0"/>
                <a:cs typeface="Times New Roman" panose="02020603050405020304" pitchFamily="18" charset="0"/>
              </a:rPr>
              <a:t> M. A. </a:t>
            </a:r>
            <a:r>
              <a:rPr lang="en-US" sz="2400" b="0" i="0" dirty="0" err="1">
                <a:effectLst/>
                <a:latin typeface="Times New Roman" panose="02020603050405020304" pitchFamily="18" charset="0"/>
                <a:cs typeface="Times New Roman" panose="02020603050405020304" pitchFamily="18" charset="0"/>
              </a:rPr>
              <a:t>Naemi</a:t>
            </a:r>
            <a:r>
              <a:rPr lang="en-US" sz="2400" b="0" i="0" dirty="0">
                <a:effectLst/>
                <a:latin typeface="Times New Roman" panose="02020603050405020304" pitchFamily="18" charset="0"/>
                <a:cs typeface="Times New Roman" panose="02020603050405020304" pitchFamily="18" charset="0"/>
              </a:rPr>
              <a:t>, published in </a:t>
            </a:r>
            <a:r>
              <a:rPr lang="en-US" sz="2400" b="0" i="1" dirty="0">
                <a:effectLst/>
                <a:latin typeface="Times New Roman" panose="02020603050405020304" pitchFamily="18" charset="0"/>
                <a:cs typeface="Times New Roman" panose="02020603050405020304" pitchFamily="18" charset="0"/>
              </a:rPr>
              <a:t>Diagnostics</a:t>
            </a:r>
            <a:r>
              <a:rPr lang="en-US" sz="2400" b="0" i="0" dirty="0">
                <a:effectLst/>
                <a:latin typeface="Times New Roman" panose="02020603050405020304" pitchFamily="18" charset="0"/>
                <a:cs typeface="Times New Roman" panose="02020603050405020304" pitchFamily="18" charset="0"/>
              </a:rPr>
              <a:t> (2024).</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2. “Donor Heart and Lung Procurement: A Consensus Statement” </a:t>
            </a:r>
            <a:r>
              <a:rPr lang="en-US" sz="2400" dirty="0">
                <a:latin typeface="Times New Roman" panose="02020603050405020304" pitchFamily="18" charset="0"/>
                <a:cs typeface="Times New Roman" panose="02020603050405020304" pitchFamily="18" charset="0"/>
              </a:rPr>
              <a:t>by Hannah Copeland et al., appearing in the Journal of Heart and Lung Transplantation (2020).</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3. “Heart Disease Prediction Using Machine Learning” </a:t>
            </a:r>
            <a:r>
              <a:rPr lang="en-US" sz="2400" dirty="0">
                <a:latin typeface="Times New Roman" panose="02020603050405020304" pitchFamily="18" charset="0"/>
                <a:cs typeface="Times New Roman" panose="02020603050405020304" pitchFamily="18" charset="0"/>
              </a:rPr>
              <a:t>by Hoor Fatima Yousaf, Haram Kamal, Bakhtawar, Muhammad Zunnurain Hussain, Muhammad Zulkifl Hasan, Muzzamil Mustafa, Muhammad Atif Yaqub, Hooria Umar, and Usama Nasir (2025).</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4. “Machine learning models using non-invasive tests &amp; B-mode ultrasound to predict liver-related outcomes in metabolic dysfunction-associated steatotic liver disease” </a:t>
            </a:r>
            <a:r>
              <a:rPr lang="en-US" sz="2400" dirty="0">
                <a:latin typeface="Times New Roman" panose="02020603050405020304" pitchFamily="18" charset="0"/>
                <a:cs typeface="Times New Roman" panose="02020603050405020304" pitchFamily="18" charset="0"/>
              </a:rPr>
              <a:t>by Heather Mary-Kathleen Kosick et al., published in Scientific Reports (2025).</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5. “New models for donor-recipient matching in lung transplantations” </a:t>
            </a:r>
            <a:r>
              <a:rPr lang="en-US" sz="2400" dirty="0">
                <a:latin typeface="Times New Roman" panose="02020603050405020304" pitchFamily="18" charset="0"/>
                <a:cs typeface="Times New Roman" panose="02020603050405020304" pitchFamily="18" charset="0"/>
              </a:rPr>
              <a:t>by J. M. Dueñas-Jurado et al., featured in PLOS ONE (2021).</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6. “Organ Donation – Current Indian Scenario” </a:t>
            </a:r>
            <a:r>
              <a:rPr lang="en-US" sz="2400" dirty="0">
                <a:latin typeface="Times New Roman" panose="02020603050405020304" pitchFamily="18" charset="0"/>
                <a:cs typeface="Times New Roman" panose="02020603050405020304" pitchFamily="18" charset="0"/>
              </a:rPr>
              <a:t>by Senthilkumar Nallusamy, Shyamalapriya, Balaji, Ranjan, and Yogendran, in the Journal of the Practice of Cardiovascular Sciences (2018).</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7. Predicting heart transplantation outcomes through data analytics” </a:t>
            </a:r>
            <a:r>
              <a:rPr lang="en-US" sz="2400" dirty="0">
                <a:latin typeface="Times New Roman" panose="02020603050405020304" pitchFamily="18" charset="0"/>
                <a:cs typeface="Times New Roman" panose="02020603050405020304" pitchFamily="18" charset="0"/>
              </a:rPr>
              <a:t>by Ali Dag, Asil Oztekin, Ahmet Yucel, Serkan Bulur, and Fadel M. Megahed, in Decision Support Systems (2016).</a:t>
            </a:r>
          </a:p>
          <a:p>
            <a:pPr lvl="1"/>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8. Predicting the graft survival for heart–lung transplantation patients: An integrated data mining methodology” </a:t>
            </a:r>
            <a:r>
              <a:rPr lang="en-US" sz="2400" dirty="0">
                <a:latin typeface="Times New Roman" panose="02020603050405020304" pitchFamily="18" charset="0"/>
                <a:cs typeface="Times New Roman" panose="02020603050405020304" pitchFamily="18" charset="0"/>
              </a:rPr>
              <a:t>by Asil Oztekin, Dursun Delen, and Zhenyu (James) Kong, published in the International Journal of Medical Informatics (2009).</a:t>
            </a:r>
          </a:p>
        </p:txBody>
      </p:sp>
    </p:spTree>
    <p:extLst>
      <p:ext uri="{BB962C8B-B14F-4D97-AF65-F5344CB8AC3E}">
        <p14:creationId xmlns:p14="http://schemas.microsoft.com/office/powerpoint/2010/main" val="4000095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5622725" y="2254469"/>
            <a:ext cx="6906691" cy="6264922"/>
            <a:chOff x="0" y="0"/>
            <a:chExt cx="9208921" cy="8353229"/>
          </a:xfrm>
        </p:grpSpPr>
        <p:sp>
          <p:nvSpPr>
            <p:cNvPr id="4" name="Freeform 4"/>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grpSp>
        <p:nvGrpSpPr>
          <p:cNvPr id="5" name="Group 5"/>
          <p:cNvGrpSpPr/>
          <p:nvPr/>
        </p:nvGrpSpPr>
        <p:grpSpPr>
          <a:xfrm>
            <a:off x="809009" y="2704068"/>
            <a:ext cx="15816446" cy="6617208"/>
            <a:chOff x="0" y="0"/>
            <a:chExt cx="21088595" cy="8822944"/>
          </a:xfrm>
        </p:grpSpPr>
        <p:sp>
          <p:nvSpPr>
            <p:cNvPr id="6" name="Freeform 6"/>
            <p:cNvSpPr/>
            <p:nvPr/>
          </p:nvSpPr>
          <p:spPr>
            <a:xfrm>
              <a:off x="0" y="0"/>
              <a:ext cx="21088595" cy="8822944"/>
            </a:xfrm>
            <a:custGeom>
              <a:avLst/>
              <a:gdLst/>
              <a:ahLst/>
              <a:cxnLst/>
              <a:rect l="l" t="t" r="r" b="b"/>
              <a:pathLst>
                <a:path w="21088595" h="8822944">
                  <a:moveTo>
                    <a:pt x="0" y="0"/>
                  </a:moveTo>
                  <a:lnTo>
                    <a:pt x="21088595" y="0"/>
                  </a:lnTo>
                  <a:lnTo>
                    <a:pt x="21088595" y="8822944"/>
                  </a:lnTo>
                  <a:lnTo>
                    <a:pt x="0" y="8822944"/>
                  </a:lnTo>
                  <a:close/>
                </a:path>
              </a:pathLst>
            </a:custGeom>
            <a:solidFill>
              <a:srgbClr val="000000">
                <a:alpha val="0"/>
              </a:srgbClr>
            </a:solidFill>
          </p:spPr>
          <p:txBody>
            <a:bodyPr/>
            <a:lstStyle/>
            <a:p>
              <a:endParaRPr lang="en-IN" dirty="0"/>
            </a:p>
          </p:txBody>
        </p:sp>
        <p:sp>
          <p:nvSpPr>
            <p:cNvPr id="7" name="TextBox 7"/>
            <p:cNvSpPr txBox="1"/>
            <p:nvPr/>
          </p:nvSpPr>
          <p:spPr>
            <a:xfrm>
              <a:off x="0" y="-47625"/>
              <a:ext cx="21088595" cy="8870569"/>
            </a:xfrm>
            <a:prstGeom prst="rect">
              <a:avLst/>
            </a:prstGeom>
          </p:spPr>
          <p:txBody>
            <a:bodyPr lIns="0" tIns="0" rIns="0" bIns="0" rtlCol="0" anchor="ctr"/>
            <a:lstStyle/>
            <a:p>
              <a:pPr marL="289560" lvl="1" indent="-144780" algn="l">
                <a:lnSpc>
                  <a:spcPts val="2879"/>
                </a:lnSpc>
              </a:pPr>
              <a:endParaRPr lang="en-US" sz="2400" dirty="0">
                <a:solidFill>
                  <a:srgbClr val="000000"/>
                </a:solidFill>
                <a:latin typeface="Times New Roman"/>
                <a:ea typeface="Times New Roman"/>
                <a:cs typeface="Times New Roman"/>
                <a:sym typeface="Times New Roman"/>
              </a:endParaRPr>
            </a:p>
          </p:txBody>
        </p:sp>
      </p:grpSp>
      <p:sp>
        <p:nvSpPr>
          <p:cNvPr id="10" name="TextBox 9">
            <a:extLst>
              <a:ext uri="{FF2B5EF4-FFF2-40B4-BE49-F238E27FC236}">
                <a16:creationId xmlns:a16="http://schemas.microsoft.com/office/drawing/2014/main" id="{7ACE63FE-07B4-4671-8FC0-ACCED30E25FB}"/>
              </a:ext>
            </a:extLst>
          </p:cNvPr>
          <p:cNvSpPr txBox="1"/>
          <p:nvPr/>
        </p:nvSpPr>
        <p:spPr>
          <a:xfrm>
            <a:off x="571500" y="723900"/>
            <a:ext cx="17145000" cy="6001643"/>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9.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Recent Trends and Results for Organ Donation and Transplantation in the United States, 2005”</a:t>
            </a:r>
            <a:r>
              <a:rPr lang="en-US" sz="2400" dirty="0">
                <a:latin typeface="Times New Roman" panose="02020603050405020304" pitchFamily="18" charset="0"/>
                <a:cs typeface="Times New Roman" panose="02020603050405020304" pitchFamily="18" charset="0"/>
              </a:rPr>
              <a:t> by F. K. Port, R. M. Merion, N. P. Goodrich, and R. A. Wolfe, in the American Journal of Transplantation (2006).</a:t>
            </a: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10. “Simulating the Allocation of Organs for Transplantation” </a:t>
            </a:r>
            <a:r>
              <a:rPr lang="en-US" sz="2400" dirty="0">
                <a:latin typeface="Times New Roman" panose="02020603050405020304" pitchFamily="18" charset="0"/>
                <a:cs typeface="Times New Roman" panose="02020603050405020304" pitchFamily="18" charset="0"/>
              </a:rPr>
              <a:t>by David Thompson, Larry Waisanen, Robert Wolfe, Robert M. Merion, Keith McCullough, and Ann Rodgers, published in Health Care Management Science (2004).</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11. “Survival Benefit-Based Deceased-Donor Liver Allocation” </a:t>
            </a:r>
            <a:r>
              <a:rPr lang="en-US" sz="2400" dirty="0">
                <a:latin typeface="Times New Roman" panose="02020603050405020304" pitchFamily="18" charset="0"/>
                <a:cs typeface="Times New Roman" panose="02020603050405020304" pitchFamily="18" charset="0"/>
              </a:rPr>
              <a:t>by D. E. Schaubel, M. K. Guidinger, S. W. Biggins, J. D. Kalbfleisch, E. A. Pomfret, P. Sharma, and R. M. Merion, in the American Journal of Transplantation (2009).</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12. “Deceased organ donation and transplantation in India: Promises and challenges” </a:t>
            </a:r>
            <a:r>
              <a:rPr lang="en-US" sz="2400" dirty="0">
                <a:latin typeface="Times New Roman" panose="02020603050405020304" pitchFamily="18" charset="0"/>
                <a:cs typeface="Times New Roman" panose="02020603050405020304" pitchFamily="18" charset="0"/>
              </a:rPr>
              <a:t>by Aneesh Srivastava and Anil Mani, published in Neurology India (2018).</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13. “A study of organizing organ transplant across states in India” </a:t>
            </a:r>
            <a:r>
              <a:rPr lang="en-US" sz="2400" dirty="0">
                <a:latin typeface="Times New Roman" panose="02020603050405020304" pitchFamily="18" charset="0"/>
                <a:cs typeface="Times New Roman" panose="02020603050405020304" pitchFamily="18" charset="0"/>
              </a:rPr>
              <a:t>by Rachna Dubey, Sanjay Dixit, and Sanjay Dubey, in the Indian Journal of Transplantation (2016).</a:t>
            </a:r>
          </a:p>
          <a:p>
            <a:endParaRPr lang="en-US" sz="2400" dirty="0"/>
          </a:p>
        </p:txBody>
      </p:sp>
    </p:spTree>
    <p:extLst>
      <p:ext uri="{BB962C8B-B14F-4D97-AF65-F5344CB8AC3E}">
        <p14:creationId xmlns:p14="http://schemas.microsoft.com/office/powerpoint/2010/main" val="3332018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4DDFF-E88C-9EBB-6A9F-60D76CF7A52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837F0D-FB7F-A805-F14D-A3518AB703BF}"/>
              </a:ext>
            </a:extLst>
          </p:cNvPr>
          <p:cNvGrpSpPr/>
          <p:nvPr/>
        </p:nvGrpSpPr>
        <p:grpSpPr>
          <a:xfrm>
            <a:off x="5613200" y="2254469"/>
            <a:ext cx="6906691" cy="6264922"/>
            <a:chOff x="0" y="0"/>
            <a:chExt cx="9208921" cy="8353229"/>
          </a:xfrm>
        </p:grpSpPr>
        <p:sp>
          <p:nvSpPr>
            <p:cNvPr id="3" name="Freeform 3">
              <a:extLst>
                <a:ext uri="{FF2B5EF4-FFF2-40B4-BE49-F238E27FC236}">
                  <a16:creationId xmlns:a16="http://schemas.microsoft.com/office/drawing/2014/main" id="{5F3E5E0D-B42C-F339-CACF-9EF8998FAA9E}"/>
                </a:ext>
              </a:extLst>
            </p:cNvPr>
            <p:cNvSpPr/>
            <p:nvPr/>
          </p:nvSpPr>
          <p:spPr>
            <a:xfrm>
              <a:off x="0" y="0"/>
              <a:ext cx="9208897" cy="8353171"/>
            </a:xfrm>
            <a:custGeom>
              <a:avLst/>
              <a:gdLst/>
              <a:ahLst/>
              <a:cxnLst/>
              <a:rect l="l" t="t" r="r" b="b"/>
              <a:pathLst>
                <a:path w="9208897" h="8353171">
                  <a:moveTo>
                    <a:pt x="0" y="0"/>
                  </a:moveTo>
                  <a:lnTo>
                    <a:pt x="9208897" y="0"/>
                  </a:lnTo>
                  <a:lnTo>
                    <a:pt x="9208897" y="8353171"/>
                  </a:lnTo>
                  <a:lnTo>
                    <a:pt x="0" y="8353171"/>
                  </a:lnTo>
                  <a:lnTo>
                    <a:pt x="0" y="0"/>
                  </a:lnTo>
                  <a:close/>
                </a:path>
              </a:pathLst>
            </a:custGeom>
            <a:blipFill>
              <a:blip r:embed="rId2">
                <a:alphaModFix amt="30000"/>
              </a:blip>
              <a:stretch>
                <a:fillRect t="-5121" b="-5122"/>
              </a:stretch>
            </a:blipFill>
          </p:spPr>
        </p:sp>
      </p:grpSp>
      <p:sp>
        <p:nvSpPr>
          <p:cNvPr id="4" name="TextBox 4">
            <a:extLst>
              <a:ext uri="{FF2B5EF4-FFF2-40B4-BE49-F238E27FC236}">
                <a16:creationId xmlns:a16="http://schemas.microsoft.com/office/drawing/2014/main" id="{68FC6E8D-BCA0-359C-9732-BB175D28BBD5}"/>
              </a:ext>
            </a:extLst>
          </p:cNvPr>
          <p:cNvSpPr txBox="1"/>
          <p:nvPr/>
        </p:nvSpPr>
        <p:spPr>
          <a:xfrm>
            <a:off x="5715000" y="4611495"/>
            <a:ext cx="6102995" cy="1064009"/>
          </a:xfrm>
          <a:prstGeom prst="rect">
            <a:avLst/>
          </a:prstGeom>
        </p:spPr>
        <p:txBody>
          <a:bodyPr lIns="0" tIns="0" rIns="0" bIns="0" rtlCol="0" anchor="t">
            <a:spAutoFit/>
          </a:bodyPr>
          <a:lstStyle/>
          <a:p>
            <a:pPr algn="ctr">
              <a:lnSpc>
                <a:spcPts val="9000"/>
              </a:lnSpc>
            </a:pPr>
            <a:r>
              <a:rPr lang="en-US" sz="6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a:t>
            </a:r>
            <a:r>
              <a:rPr lang="en-IN" sz="6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HANK YOU!</a:t>
            </a:r>
            <a:endParaRPr lang="en-US" sz="66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spTree>
    <p:extLst>
      <p:ext uri="{BB962C8B-B14F-4D97-AF65-F5344CB8AC3E}">
        <p14:creationId xmlns:p14="http://schemas.microsoft.com/office/powerpoint/2010/main" val="2968811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TotalTime>
  <Words>2018</Words>
  <Application>Microsoft Office PowerPoint</Application>
  <PresentationFormat>Custom</PresentationFormat>
  <Paragraphs>225</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Wingdings</vt:lpstr>
      <vt:lpstr>Arimo</vt:lpstr>
      <vt:lpstr>Calibri</vt:lpstr>
      <vt:lpstr>Arial</vt:lpstr>
      <vt:lpstr>Times New Roman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dc:title>
  <dc:creator>JAYA SUBHASH</dc:creator>
  <cp:lastModifiedBy>Phani Harshith</cp:lastModifiedBy>
  <cp:revision>43</cp:revision>
  <dcterms:created xsi:type="dcterms:W3CDTF">2006-08-16T00:00:00Z</dcterms:created>
  <dcterms:modified xsi:type="dcterms:W3CDTF">2026-01-19T08:26:03Z</dcterms:modified>
  <dc:identifier>DAGuJ-PxbgQ</dc:identifier>
</cp:coreProperties>
</file>